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91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858000" y="109728"/>
            <a:ext cx="2286000" cy="4928616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192024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132320" y="1005840"/>
            <a:ext cx="1920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132320" y="1554480"/>
            <a:ext cx="192024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7132320" y="2103120"/>
            <a:ext cx="1920240" cy="7315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7132320" y="2651760"/>
            <a:ext cx="192024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132320" y="3200400"/>
            <a:ext cx="1920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949440" y="3657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pt-BR" sz="3000" b="1" noProof="0" dirty="0" err="1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r|s</a:t>
            </a:r>
            <a:r>
              <a:rPr lang="pt-BR" sz="3000" b="1" noProof="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endParaRPr lang="pt-BR" sz="3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</a:t>
            </a:r>
            <a:r>
              <a:rPr lang="pt-BR" sz="1600" b="1" noProof="0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GranTietê</a:t>
            </a:r>
            <a:endParaRPr lang="pt-BR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7132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da Computação  |  Teoria da Computação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1078992"/>
            <a:ext cx="59436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1234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Regulares</a:t>
            </a:r>
            <a:endParaRPr lang="pt-BR" sz="42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i="1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— ER: definição, leitura e construção</a:t>
            </a:r>
            <a:endParaRPr lang="pt-BR" sz="18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5943600" cy="13716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Me. José </a:t>
            </a:r>
            <a:r>
              <a:rPr lang="pt-BR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</a:t>
            </a: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Gallo Junior</a:t>
            </a:r>
            <a:endParaRPr lang="pt-BR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Semestre - Fevereiro / 2026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Sumario da Aula</a:t>
            </a:r>
            <a:endParaRPr lang="pt-B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943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pt-B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078992" y="1115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uma ER?</a:t>
            </a:r>
            <a:endParaRPr lang="pt-B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como receita compacta para linguagens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5943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59436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36210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1078992" y="34747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de operadores</a:t>
            </a:r>
            <a:endParaRPr lang="pt-BR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38679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&gt; concatenação &gt; |</a:t>
            </a:r>
            <a:endParaRPr lang="pt-BR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1005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1005840"/>
            <a:ext cx="5943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pt-B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5468112" y="1100915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</a:t>
            </a:r>
            <a:r>
              <a:rPr lang="pt-BR" sz="15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pt-BR" sz="1500" noProof="0" dirty="0"/>
          </a:p>
        </p:txBody>
      </p:sp>
      <p:sp>
        <p:nvSpPr>
          <p:cNvPr id="23" name="Text 21"/>
          <p:cNvSpPr/>
          <p:nvPr/>
        </p:nvSpPr>
        <p:spPr>
          <a:xfrm>
            <a:off x="5468112" y="149410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Receitas: termina com, começa com, contem</a:t>
            </a:r>
            <a:endParaRPr lang="pt-BR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176272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2176272"/>
            <a:ext cx="5943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4754880" y="2432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pt-BR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5468112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— Fique Atento!</a:t>
            </a:r>
          </a:p>
        </p:txBody>
      </p:sp>
      <p:sp>
        <p:nvSpPr>
          <p:cNvPr id="28" name="Text 26"/>
          <p:cNvSpPr/>
          <p:nvPr/>
        </p:nvSpPr>
        <p:spPr>
          <a:xfrm>
            <a:off x="5468112" y="2679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ao escrever expressões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1078992" y="1115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uma Expressão Regular?</a:t>
            </a:r>
          </a:p>
        </p:txBody>
      </p:sp>
      <p:sp>
        <p:nvSpPr>
          <p:cNvPr id="13" name="Text 11"/>
          <p:cNvSpPr/>
          <p:nvPr/>
        </p:nvSpPr>
        <p:spPr>
          <a:xfrm>
            <a:off x="1078992" y="15087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operações fundamentais</a:t>
            </a:r>
            <a:endParaRPr lang="pt-BR" sz="1300" noProof="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45E10D32-1F13-108D-3102-82047660CA7C}"/>
              </a:ext>
            </a:extLst>
          </p:cNvPr>
          <p:cNvSpPr/>
          <p:nvPr/>
        </p:nvSpPr>
        <p:spPr>
          <a:xfrm>
            <a:off x="1078992" y="2279435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</a:t>
            </a:r>
            <a:endParaRPr lang="pt-BR" sz="1500" noProof="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BE631F3C-8469-C0BD-87A8-4F9FB6970BB2}"/>
              </a:ext>
            </a:extLst>
          </p:cNvPr>
          <p:cNvSpPr/>
          <p:nvPr/>
        </p:nvSpPr>
        <p:spPr>
          <a:xfrm>
            <a:off x="1078992" y="2672627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e regras de construção</a:t>
            </a:r>
            <a:endParaRPr lang="pt-BR" sz="1300" noProof="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06D55B03-8513-BAC9-5B36-B278F4296A59}"/>
              </a:ext>
            </a:extLst>
          </p:cNvPr>
          <p:cNvSpPr/>
          <p:nvPr/>
        </p:nvSpPr>
        <p:spPr>
          <a:xfrm>
            <a:off x="4754880" y="1017563"/>
            <a:ext cx="5943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1A6ACFAE-1876-B16C-30A3-8191BA06B02D}"/>
              </a:ext>
            </a:extLst>
          </p:cNvPr>
          <p:cNvSpPr/>
          <p:nvPr/>
        </p:nvSpPr>
        <p:spPr>
          <a:xfrm>
            <a:off x="4754880" y="1273595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1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uma Expressão Regular?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Intuição:  Uma ER e como uma receita que descreve quais </a:t>
            </a:r>
            <a:r>
              <a:rPr lang="pt-BR" sz="1600" b="1" noProof="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pt-BR" sz="1600" b="1" noProof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aceitas.</a:t>
            </a:r>
            <a:endParaRPr lang="pt-BR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não produz apenas uma </a:t>
            </a:r>
            <a:r>
              <a:rPr lang="pt-BR" sz="14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400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ela descreve um conjunto inteiro de </a:t>
            </a:r>
            <a:r>
              <a:rPr lang="pt-BR" sz="14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pt-BR" sz="1400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operações fundamentais:</a:t>
            </a:r>
            <a:endParaRPr lang="pt-BR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743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pt-BR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(Uniao)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</a:t>
            </a:r>
            <a:r>
              <a:rPr lang="pt-BR" sz="1300" b="1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aquela</a:t>
            </a:r>
            <a:endParaRPr lang="pt-B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2560320" cy="5943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40965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0|1  aceita {0, 1}</a:t>
            </a:r>
            <a:endParaRPr lang="pt-B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324612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3246120" y="2468880"/>
            <a:ext cx="27432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3246120" y="24871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pt-BR" sz="3200" noProof="0" dirty="0"/>
          </a:p>
        </p:txBody>
      </p:sp>
      <p:sp>
        <p:nvSpPr>
          <p:cNvPr id="18" name="Text 16"/>
          <p:cNvSpPr/>
          <p:nvPr/>
        </p:nvSpPr>
        <p:spPr>
          <a:xfrm>
            <a:off x="333756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</a:t>
            </a:r>
            <a:endParaRPr lang="pt-B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333756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</a:t>
            </a:r>
            <a:r>
              <a:rPr lang="pt-BR" sz="1300" b="1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SEGUIDA de outra</a:t>
            </a:r>
            <a:endParaRPr lang="pt-B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3337560" y="4041648"/>
            <a:ext cx="2560320" cy="5943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383280" y="40965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aceita {01}</a:t>
            </a:r>
            <a:endParaRPr lang="pt-BR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612648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1"/>
          <p:cNvSpPr/>
          <p:nvPr/>
        </p:nvSpPr>
        <p:spPr>
          <a:xfrm>
            <a:off x="6126480" y="2468880"/>
            <a:ext cx="2743200" cy="6400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6126480" y="24871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pt-BR" sz="3200" noProof="0" dirty="0"/>
          </a:p>
        </p:txBody>
      </p:sp>
      <p:sp>
        <p:nvSpPr>
          <p:cNvPr id="25" name="Text 23"/>
          <p:cNvSpPr/>
          <p:nvPr/>
        </p:nvSpPr>
        <p:spPr>
          <a:xfrm>
            <a:off x="621792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pt-BR" sz="1500" noProof="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OU MAIS vezes</a:t>
            </a:r>
            <a:endParaRPr lang="pt-BR" sz="1300" noProof="0" dirty="0"/>
          </a:p>
        </p:txBody>
      </p:sp>
      <p:sp>
        <p:nvSpPr>
          <p:cNvPr id="27" name="Shape 25"/>
          <p:cNvSpPr/>
          <p:nvPr/>
        </p:nvSpPr>
        <p:spPr>
          <a:xfrm>
            <a:off x="6217920" y="4041648"/>
            <a:ext cx="2560320" cy="5943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6263640" y="40965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5C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1*  aceita {e, 1, 11, ...}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 e L(r)</a:t>
            </a:r>
            <a:endParaRPr lang="pt-B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475488" y="1536192"/>
            <a:ext cx="37947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r>
              <a:rPr lang="pt-BR" sz="1500" b="1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-set</a:t>
            </a:r>
            <a:endParaRPr lang="pt-BR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-set) = {} (nenhuma 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" y="2267712"/>
            <a:ext cx="37947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{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(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pt-BR" sz="12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vazia)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" y="2999232"/>
            <a:ext cx="37947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035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in Sigma</a:t>
            </a:r>
            <a:endParaRPr lang="pt-B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L(a) = {a} (só o símbolo a)</a:t>
            </a:r>
            <a:endParaRPr lang="pt-B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" y="3657600"/>
            <a:ext cx="379476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Construção: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 e s são ER, então  (</a:t>
            </a:r>
            <a:r>
              <a:rPr lang="pt-BR" sz="12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r|s</a:t>
            </a:r>
            <a:r>
              <a:rPr lang="pt-BR" sz="12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 (</a:t>
            </a:r>
            <a:r>
              <a:rPr lang="pt-BR" sz="12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r>
              <a:rPr lang="pt-BR" sz="12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e  (r*)  também são ER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— L(r)</a:t>
            </a:r>
            <a:endParaRPr lang="pt-BR" sz="1400" noProof="0" dirty="0"/>
          </a:p>
        </p:txBody>
      </p:sp>
      <p:sp>
        <p:nvSpPr>
          <p:cNvPr id="22" name="Shape 20"/>
          <p:cNvSpPr/>
          <p:nvPr/>
        </p:nvSpPr>
        <p:spPr>
          <a:xfrm>
            <a:off x="4846320" y="1536192"/>
            <a:ext cx="3794760" cy="68580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937760" y="1581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0|1</a:t>
            </a:r>
            <a:endParaRPr lang="pt-BR" sz="1500" noProof="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L(r) = {0, 1}</a:t>
            </a:r>
            <a:endParaRPr lang="pt-BR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4846320" y="2313432"/>
            <a:ext cx="3794760" cy="68580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493776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01</a:t>
            </a:r>
            <a:endParaRPr lang="pt-BR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4937760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L(r) = {01}</a:t>
            </a:r>
            <a:endParaRPr lang="pt-BR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4846320" y="3090672"/>
            <a:ext cx="3794760" cy="68580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493776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1*</a:t>
            </a:r>
            <a:endParaRPr lang="pt-BR" sz="1500" noProof="0" dirty="0"/>
          </a:p>
        </p:txBody>
      </p:sp>
      <p:sp>
        <p:nvSpPr>
          <p:cNvPr id="30" name="Text 28"/>
          <p:cNvSpPr/>
          <p:nvPr/>
        </p:nvSpPr>
        <p:spPr>
          <a:xfrm>
            <a:off x="493776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L(r) = {</a:t>
            </a:r>
            <a:r>
              <a:rPr lang="pt-BR" sz="1300" noProof="0" dirty="0" err="1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1, 11, 111, ...}</a:t>
            </a:r>
            <a:endParaRPr lang="pt-BR" sz="1300" noProof="0" dirty="0"/>
          </a:p>
        </p:txBody>
      </p:sp>
      <p:sp>
        <p:nvSpPr>
          <p:cNvPr id="31" name="Shape 29"/>
          <p:cNvSpPr/>
          <p:nvPr/>
        </p:nvSpPr>
        <p:spPr>
          <a:xfrm>
            <a:off x="4846320" y="3867912"/>
            <a:ext cx="3794760" cy="68580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3776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(0|1)*</a:t>
            </a:r>
            <a:endParaRPr lang="pt-BR" sz="1500" noProof="0" dirty="0"/>
          </a:p>
        </p:txBody>
      </p:sp>
      <p:sp>
        <p:nvSpPr>
          <p:cNvPr id="33" name="Text 31"/>
          <p:cNvSpPr/>
          <p:nvPr/>
        </p:nvSpPr>
        <p:spPr>
          <a:xfrm>
            <a:off x="493776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L(r) = todas as </a:t>
            </a:r>
            <a:r>
              <a:rPr lang="pt-BR" sz="1300" noProof="0" dirty="0" err="1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</a:t>
            </a:r>
            <a:r>
              <a:rPr lang="pt-BR" sz="1300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binarias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dos Operadores</a:t>
            </a:r>
            <a:endParaRPr lang="pt-B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78992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94360" cy="107899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5C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pt-BR" sz="2800" noProof="0" dirty="0"/>
          </a:p>
        </p:txBody>
      </p:sp>
      <p:sp>
        <p:nvSpPr>
          <p:cNvPr id="8" name="Text 6"/>
          <p:cNvSpPr/>
          <p:nvPr/>
        </p:nvSpPr>
        <p:spPr>
          <a:xfrm>
            <a:off x="214884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 de </a:t>
            </a:r>
            <a:r>
              <a:rPr lang="pt-BR" sz="15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Kleene</a:t>
            </a:r>
            <a:endParaRPr lang="pt-BR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2148840" y="1554480"/>
            <a:ext cx="914400" cy="29260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148840" y="1563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FORTE</a:t>
            </a:r>
            <a:endParaRPr lang="pt-BR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94360" cy="10789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pt-B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051560" y="23500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</a:t>
            </a:r>
            <a:endParaRPr lang="pt-BR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2148840" y="2350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(sequencia)</a:t>
            </a:r>
            <a:endParaRPr lang="pt-BR" sz="1500" noProof="0" dirty="0"/>
          </a:p>
        </p:txBody>
      </p:sp>
      <p:sp>
        <p:nvSpPr>
          <p:cNvPr id="16" name="Shape 14"/>
          <p:cNvSpPr/>
          <p:nvPr/>
        </p:nvSpPr>
        <p:spPr>
          <a:xfrm>
            <a:off x="2148840" y="2788920"/>
            <a:ext cx="91440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2148840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pt-B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1078992"/>
          </a:xfrm>
          <a:prstGeom prst="rect">
            <a:avLst/>
          </a:prstGeom>
          <a:solidFill>
            <a:srgbClr val="E3EBF5"/>
          </a:solidFill>
          <a:ln w="12700">
            <a:solidFill>
              <a:srgbClr val="E3EB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59436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pt-BR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1051560" y="358444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pt-BR" sz="2800" noProof="0" dirty="0"/>
          </a:p>
        </p:txBody>
      </p:sp>
      <p:sp>
        <p:nvSpPr>
          <p:cNvPr id="22" name="Text 20"/>
          <p:cNvSpPr/>
          <p:nvPr/>
        </p:nvSpPr>
        <p:spPr>
          <a:xfrm>
            <a:off x="214884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Uniao (OU)</a:t>
            </a:r>
            <a:endParaRPr lang="pt-BR" sz="1500" noProof="0" dirty="0"/>
          </a:p>
        </p:txBody>
      </p:sp>
      <p:sp>
        <p:nvSpPr>
          <p:cNvPr id="23" name="Shape 21"/>
          <p:cNvSpPr/>
          <p:nvPr/>
        </p:nvSpPr>
        <p:spPr>
          <a:xfrm>
            <a:off x="2148840" y="4023360"/>
            <a:ext cx="9144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2148840" y="4032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FRACO</a:t>
            </a:r>
            <a:endParaRPr lang="pt-BR" sz="1000" noProof="0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8D4E90-36F0-E36B-3985-9861B496D0EB}"/>
              </a:ext>
            </a:extLst>
          </p:cNvPr>
          <p:cNvGrpSpPr/>
          <p:nvPr/>
        </p:nvGrpSpPr>
        <p:grpSpPr>
          <a:xfrm>
            <a:off x="4673990" y="1980028"/>
            <a:ext cx="4104250" cy="1565910"/>
            <a:chOff x="4719710" y="1005840"/>
            <a:chExt cx="4104250" cy="1565910"/>
          </a:xfrm>
        </p:grpSpPr>
        <p:sp>
          <p:nvSpPr>
            <p:cNvPr id="25" name="Shape 23"/>
            <p:cNvSpPr/>
            <p:nvPr/>
          </p:nvSpPr>
          <p:spPr>
            <a:xfrm>
              <a:off x="4719710" y="1005840"/>
              <a:ext cx="4104250" cy="156591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832252" y="1069848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400" b="1" noProof="0" dirty="0">
                  <a:solidFill>
                    <a:srgbClr val="7D52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Exemplo Critico:</a:t>
              </a:r>
              <a:endParaRPr lang="pt-BR" sz="1400" noProof="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46320" y="1481328"/>
              <a:ext cx="52753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800" b="1" noProof="0" dirty="0">
                  <a:solidFill>
                    <a:srgbClr val="5C2D9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01*</a:t>
              </a:r>
              <a:endParaRPr lang="pt-BR" sz="1800" noProof="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71868" y="1481328"/>
              <a:ext cx="35063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400" noProof="0" dirty="0">
                  <a:solidFill>
                    <a:srgbClr val="1A2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0 seguido de vários 1  -&gt;  {0, 01, 011, 0111, ...}</a:t>
              </a:r>
              <a:endParaRPr lang="pt-BR" sz="1400" noProof="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800600" y="1999019"/>
              <a:ext cx="11887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800" b="1" noProof="0" dirty="0">
                  <a:solidFill>
                    <a:srgbClr val="0D7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(01)*</a:t>
              </a:r>
              <a:endParaRPr lang="pt-BR" sz="1800" noProof="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543549" y="1980028"/>
              <a:ext cx="3149405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400" noProof="0" dirty="0">
                  <a:solidFill>
                    <a:srgbClr val="1A2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repetição do bloco 01  -&gt;  {e, 01, 0101, ...}</a:t>
              </a:r>
              <a:endParaRPr lang="pt-BR" sz="1400" noProof="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</a:t>
            </a:r>
            <a:r>
              <a:rPr lang="pt-BR" sz="2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de Enunciados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= {0,1}  -&gt;  use (0|1) para representar qualquer símbolo do alfabeto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109728" cy="9875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com 1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2971800" y="1673352"/>
            <a:ext cx="30175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ER: (0|1)*1</a:t>
            </a:r>
            <a:endParaRPr lang="pt-BR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" y="2139696"/>
            <a:ext cx="117043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12648" y="21579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Aceita: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1828800" y="21579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1, 01, 101, 0001</a:t>
            </a:r>
            <a:endParaRPr lang="pt-BR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5212080" y="2139696"/>
            <a:ext cx="1261872" cy="256032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5230368" y="2157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Rejeita:</a:t>
            </a:r>
            <a:endParaRPr lang="pt-B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6537960" y="21579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0, 10, </a:t>
            </a:r>
            <a:r>
              <a:rPr lang="pt-BR" sz="1300" noProof="0" dirty="0" err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endParaRPr lang="pt-BR" sz="1300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109728" cy="9875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594360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Comeca</a:t>
            </a:r>
            <a:r>
              <a:rPr lang="pt-BR" sz="14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1</a:t>
            </a:r>
            <a:endParaRPr lang="pt-BR" sz="1400" noProof="0" dirty="0"/>
          </a:p>
        </p:txBody>
      </p:sp>
      <p:sp>
        <p:nvSpPr>
          <p:cNvPr id="20" name="Shape 18"/>
          <p:cNvSpPr/>
          <p:nvPr/>
        </p:nvSpPr>
        <p:spPr>
          <a:xfrm>
            <a:off x="2971800" y="2788920"/>
            <a:ext cx="30175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017520" y="2825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ER: 1(0|1)*</a:t>
            </a:r>
            <a:endParaRPr lang="pt-BR" sz="1600" noProof="0" dirty="0"/>
          </a:p>
        </p:txBody>
      </p:sp>
      <p:sp>
        <p:nvSpPr>
          <p:cNvPr id="22" name="Shape 20"/>
          <p:cNvSpPr/>
          <p:nvPr/>
        </p:nvSpPr>
        <p:spPr>
          <a:xfrm>
            <a:off x="594360" y="3255264"/>
            <a:ext cx="117043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12648" y="32735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Aceita: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1828800" y="3273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1, 10, 101, 1110</a:t>
            </a:r>
            <a:endParaRPr lang="pt-BR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5212080" y="3255264"/>
            <a:ext cx="1261872" cy="256032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5230368" y="32735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Rejeita:</a:t>
            </a:r>
            <a:endParaRPr lang="pt-BR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6537960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0, 011, </a:t>
            </a:r>
            <a:r>
              <a:rPr lang="pt-BR" sz="1300" noProof="0" dirty="0" err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endParaRPr lang="pt-BR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365760" y="3858768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Shape 27"/>
          <p:cNvSpPr/>
          <p:nvPr/>
        </p:nvSpPr>
        <p:spPr>
          <a:xfrm>
            <a:off x="365760" y="3858768"/>
            <a:ext cx="109728" cy="98755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59436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 101</a:t>
            </a:r>
            <a:endParaRPr lang="pt-BR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2971800" y="3904488"/>
            <a:ext cx="30175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3017520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5C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ER: (0|1)*101(0|1)*</a:t>
            </a:r>
            <a:endParaRPr lang="pt-BR" sz="1600" noProof="0" dirty="0"/>
          </a:p>
        </p:txBody>
      </p:sp>
      <p:sp>
        <p:nvSpPr>
          <p:cNvPr id="33" name="Shape 31"/>
          <p:cNvSpPr/>
          <p:nvPr/>
        </p:nvSpPr>
        <p:spPr>
          <a:xfrm>
            <a:off x="594360" y="4370832"/>
            <a:ext cx="117043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/>
          <p:nvPr/>
        </p:nvSpPr>
        <p:spPr>
          <a:xfrm>
            <a:off x="612648" y="43891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Aceita:</a:t>
            </a:r>
            <a:endParaRPr lang="pt-BR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1828800" y="4389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101, 11010, 0101</a:t>
            </a:r>
            <a:endParaRPr lang="pt-BR" sz="1300" noProof="0" dirty="0"/>
          </a:p>
        </p:txBody>
      </p:sp>
      <p:sp>
        <p:nvSpPr>
          <p:cNvPr id="36" name="Shape 34"/>
          <p:cNvSpPr/>
          <p:nvPr/>
        </p:nvSpPr>
        <p:spPr>
          <a:xfrm>
            <a:off x="5212080" y="4370832"/>
            <a:ext cx="1261872" cy="256032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Text 35"/>
          <p:cNvSpPr/>
          <p:nvPr/>
        </p:nvSpPr>
        <p:spPr>
          <a:xfrm>
            <a:off x="5230368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Rejeita:</a:t>
            </a:r>
            <a:endParaRPr lang="pt-BR" sz="1100" noProof="0" dirty="0"/>
          </a:p>
        </p:txBody>
      </p:sp>
      <p:sp>
        <p:nvSpPr>
          <p:cNvPr id="38" name="Text 36"/>
          <p:cNvSpPr/>
          <p:nvPr/>
        </p:nvSpPr>
        <p:spPr>
          <a:xfrm>
            <a:off x="6537960" y="43891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100, 011, </a:t>
            </a:r>
            <a:r>
              <a:rPr lang="pt-BR" sz="1300" noProof="0" dirty="0" err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— Fique Atento!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pt-B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41248" y="1060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e símbolo do alfabeto</a:t>
            </a:r>
            <a:endParaRPr lang="pt-B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uma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vazia — ela pertence a Sigma*, mas normalmente não a Sigma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pt-B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841248" y="1865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-set != </a:t>
            </a:r>
            <a:r>
              <a:rPr lang="pt-BR" sz="1500" b="1" noProof="0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endParaRPr lang="pt-B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841248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-set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aceita nenhuma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aceita exatamente a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vazia</a:t>
            </a:r>
            <a:endParaRPr lang="pt-BR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pt-B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84124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não é comutativa</a:t>
            </a:r>
            <a:endParaRPr lang="pt-BR" sz="1500" noProof="0" dirty="0"/>
          </a:p>
        </p:txBody>
      </p:sp>
      <p:sp>
        <p:nvSpPr>
          <p:cNvPr id="18" name="Text 16"/>
          <p:cNvSpPr/>
          <p:nvPr/>
        </p:nvSpPr>
        <p:spPr>
          <a:xfrm>
            <a:off x="841248" y="29809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!= "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— em geral L1L2 != L2L1</a:t>
            </a:r>
            <a:endParaRPr lang="pt-B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pt-B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841248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01* != (01)*</a:t>
            </a:r>
            <a:endParaRPr lang="pt-BR" sz="1500" noProof="0" dirty="0"/>
          </a:p>
        </p:txBody>
      </p:sp>
      <p:sp>
        <p:nvSpPr>
          <p:cNvPr id="23" name="Text 21"/>
          <p:cNvSpPr/>
          <p:nvPr/>
        </p:nvSpPr>
        <p:spPr>
          <a:xfrm>
            <a:off x="841248" y="37856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01* = 0 seguido de vários 1;   (01)* = repetições do bloco 01</a:t>
            </a:r>
            <a:endParaRPr lang="pt-B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pt-BR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841248" y="4279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não conta com memoria infinita</a:t>
            </a:r>
            <a:endParaRPr lang="pt-BR" sz="1500" noProof="0" dirty="0"/>
          </a:p>
        </p:txBody>
      </p:sp>
      <p:sp>
        <p:nvSpPr>
          <p:cNvPr id="28" name="Text 26"/>
          <p:cNvSpPr/>
          <p:nvPr/>
        </p:nvSpPr>
        <p:spPr>
          <a:xfrm>
            <a:off x="841248" y="45902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da para impor a quantidade igual (como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a^n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noProof="0" dirty="0" err="1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b^n</a:t>
            </a:r>
            <a:r>
              <a:rPr lang="pt-BR" sz="1300" noProof="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apenas com ER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Aula 2</a:t>
            </a:r>
            <a:endParaRPr lang="pt-BR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229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Regular</a:t>
            </a:r>
            <a:endParaRPr lang="pt-BR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1280160" y="1709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compacta para linguagens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8229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L(r)</a:t>
            </a:r>
            <a:endParaRPr lang="pt-BR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ER</a:t>
            </a:r>
            <a:endParaRPr lang="pt-BR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</a:t>
            </a:r>
            <a:r>
              <a:rPr lang="pt-BR" sz="1200" noProof="0" dirty="0" err="1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descrito pela ER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82296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36576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1280160" y="3666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Kleene</a:t>
            </a:r>
            <a:endParaRPr lang="pt-B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1280160" y="4050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 mais repetições; sempre inclui </a:t>
            </a:r>
            <a:r>
              <a:rPr lang="pt-BR" sz="1200" noProof="0" dirty="0" err="1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endParaRPr lang="pt-B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8229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pt-BR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566928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Uniao</a:t>
            </a:r>
            <a:endParaRPr lang="pt-BR" sz="1500" noProof="0" dirty="0"/>
          </a:p>
        </p:txBody>
      </p:sp>
      <p:sp>
        <p:nvSpPr>
          <p:cNvPr id="24" name="Text 22"/>
          <p:cNvSpPr/>
          <p:nvPr/>
        </p:nvSpPr>
        <p:spPr>
          <a:xfrm>
            <a:off x="5669280" y="1709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mais fraco — use parênteses para clareza</a:t>
            </a:r>
            <a:endParaRPr lang="pt-B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4754880" y="2404872"/>
            <a:ext cx="8229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4754880" y="25877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endParaRPr lang="pt-BR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5669280" y="2496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</a:t>
            </a:r>
            <a:endParaRPr lang="pt-BR" sz="1500" noProof="0" dirty="0"/>
          </a:p>
        </p:txBody>
      </p:sp>
      <p:sp>
        <p:nvSpPr>
          <p:cNvPr id="29" name="Text 27"/>
          <p:cNvSpPr/>
          <p:nvPr/>
        </p:nvSpPr>
        <p:spPr>
          <a:xfrm>
            <a:off x="56692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 na ordem exata</a:t>
            </a:r>
            <a:endParaRPr lang="pt-BR" sz="1200" noProof="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754880" y="3575304"/>
            <a:ext cx="82296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75488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pt-BR" sz="1600" noProof="0" dirty="0"/>
          </a:p>
        </p:txBody>
      </p:sp>
      <p:sp>
        <p:nvSpPr>
          <p:cNvPr id="33" name="Text 31"/>
          <p:cNvSpPr/>
          <p:nvPr/>
        </p:nvSpPr>
        <p:spPr>
          <a:xfrm>
            <a:off x="5669280" y="3666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das </a:t>
            </a:r>
            <a:r>
              <a:rPr lang="pt-BR" sz="1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pt-BR" sz="1500" noProof="0" dirty="0"/>
          </a:p>
        </p:txBody>
      </p:sp>
      <p:sp>
        <p:nvSpPr>
          <p:cNvPr id="34" name="Text 32"/>
          <p:cNvSpPr/>
          <p:nvPr/>
        </p:nvSpPr>
        <p:spPr>
          <a:xfrm>
            <a:off x="5669280" y="4050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não reconhece linguagens com contagem igual (</a:t>
            </a:r>
            <a:r>
              <a:rPr lang="pt-BR" sz="1200" noProof="0" dirty="0" err="1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a^n</a:t>
            </a: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00" noProof="0" dirty="0" err="1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b^n</a:t>
            </a:r>
            <a:r>
              <a:rPr lang="pt-BR" sz="1200" noProof="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687</Words>
  <Application>Microsoft Office PowerPoint</Application>
  <PresentationFormat>Apresentação na tela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Expressoes Regulares - Aula 2</dc:title>
  <dc:subject>PptxGenJS Presentation</dc:subject>
  <dc:creator>PptxGenJS</dc:creator>
  <cp:lastModifiedBy>Office</cp:lastModifiedBy>
  <cp:revision>16</cp:revision>
  <dcterms:created xsi:type="dcterms:W3CDTF">2026-02-23T19:19:44Z</dcterms:created>
  <dcterms:modified xsi:type="dcterms:W3CDTF">2026-02-23T22:41:15Z</dcterms:modified>
</cp:coreProperties>
</file>