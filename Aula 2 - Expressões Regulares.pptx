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706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619163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3A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3" name="Shape 1"/>
          <p:cNvSpPr/>
          <p:nvPr/>
        </p:nvSpPr>
        <p:spPr>
          <a:xfrm>
            <a:off x="0" y="5038344"/>
            <a:ext cx="9144000" cy="109728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4" name="Shape 2"/>
          <p:cNvSpPr/>
          <p:nvPr/>
        </p:nvSpPr>
        <p:spPr>
          <a:xfrm>
            <a:off x="6858000" y="109728"/>
            <a:ext cx="2286000" cy="4928616"/>
          </a:xfrm>
          <a:prstGeom prst="rect">
            <a:avLst/>
          </a:prstGeom>
          <a:solidFill>
            <a:srgbClr val="122840"/>
          </a:solidFill>
          <a:ln w="12700">
            <a:solidFill>
              <a:srgbClr val="122840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5" name="Shape 3"/>
          <p:cNvSpPr/>
          <p:nvPr/>
        </p:nvSpPr>
        <p:spPr>
          <a:xfrm>
            <a:off x="7132320" y="457200"/>
            <a:ext cx="1920240" cy="73152"/>
          </a:xfrm>
          <a:prstGeom prst="rect">
            <a:avLst/>
          </a:prstGeom>
          <a:solidFill>
            <a:srgbClr val="0D7A8A"/>
          </a:solidFill>
          <a:ln w="12700">
            <a:solidFill>
              <a:srgbClr val="0D7A8A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Shape 4"/>
          <p:cNvSpPr/>
          <p:nvPr/>
        </p:nvSpPr>
        <p:spPr>
          <a:xfrm>
            <a:off x="7132320" y="1005840"/>
            <a:ext cx="1920240" cy="73152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7" name="Shape 5"/>
          <p:cNvSpPr/>
          <p:nvPr/>
        </p:nvSpPr>
        <p:spPr>
          <a:xfrm>
            <a:off x="7132320" y="1554480"/>
            <a:ext cx="1920240" cy="73152"/>
          </a:xfrm>
          <a:prstGeom prst="rect">
            <a:avLst/>
          </a:prstGeom>
          <a:solidFill>
            <a:srgbClr val="0D7A8A"/>
          </a:solidFill>
          <a:ln w="12700">
            <a:solidFill>
              <a:srgbClr val="0D7A8A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8" name="Shape 6"/>
          <p:cNvSpPr/>
          <p:nvPr/>
        </p:nvSpPr>
        <p:spPr>
          <a:xfrm>
            <a:off x="7132320" y="2103120"/>
            <a:ext cx="1920240" cy="73152"/>
          </a:xfrm>
          <a:prstGeom prst="rect">
            <a:avLst/>
          </a:prstGeom>
          <a:solidFill>
            <a:srgbClr val="5C2D91"/>
          </a:solidFill>
          <a:ln w="12700">
            <a:solidFill>
              <a:srgbClr val="5C2D91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9" name="Shape 7"/>
          <p:cNvSpPr/>
          <p:nvPr/>
        </p:nvSpPr>
        <p:spPr>
          <a:xfrm>
            <a:off x="7132320" y="2651760"/>
            <a:ext cx="1920240" cy="73152"/>
          </a:xfrm>
          <a:prstGeom prst="rect">
            <a:avLst/>
          </a:prstGeom>
          <a:solidFill>
            <a:srgbClr val="0D7A8A"/>
          </a:solidFill>
          <a:ln w="12700">
            <a:solidFill>
              <a:srgbClr val="0D7A8A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0" name="Shape 8"/>
          <p:cNvSpPr/>
          <p:nvPr/>
        </p:nvSpPr>
        <p:spPr>
          <a:xfrm>
            <a:off x="7132320" y="3200400"/>
            <a:ext cx="1920240" cy="73152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1" name="Text 9"/>
          <p:cNvSpPr/>
          <p:nvPr/>
        </p:nvSpPr>
        <p:spPr>
          <a:xfrm>
            <a:off x="6949440" y="365760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3000" b="1" noProof="0" dirty="0">
                <a:solidFill>
                  <a:srgbClr val="A8C5D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pt-BR" sz="3000" b="1" noProof="0" dirty="0" err="1">
                <a:solidFill>
                  <a:srgbClr val="A8C5D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r|s</a:t>
            </a:r>
            <a:r>
              <a:rPr lang="pt-BR" sz="3000" b="1" noProof="0" dirty="0">
                <a:solidFill>
                  <a:srgbClr val="A8C5D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)*</a:t>
            </a:r>
            <a:endParaRPr lang="pt-BR" sz="3000" noProof="0" dirty="0"/>
          </a:p>
        </p:txBody>
      </p:sp>
      <p:sp>
        <p:nvSpPr>
          <p:cNvPr id="12" name="Text 10"/>
          <p:cNvSpPr/>
          <p:nvPr/>
        </p:nvSpPr>
        <p:spPr>
          <a:xfrm>
            <a:off x="457200" y="274320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600" b="1" noProof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Faculdade </a:t>
            </a:r>
            <a:r>
              <a:rPr lang="pt-BR" sz="1600" b="1" noProof="0" dirty="0" err="1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GranTietê</a:t>
            </a:r>
            <a:endParaRPr lang="pt-BR" sz="1600" noProof="0" dirty="0"/>
          </a:p>
        </p:txBody>
      </p:sp>
      <p:sp>
        <p:nvSpPr>
          <p:cNvPr id="13" name="Text 11"/>
          <p:cNvSpPr/>
          <p:nvPr/>
        </p:nvSpPr>
        <p:spPr>
          <a:xfrm>
            <a:off x="457200" y="713232"/>
            <a:ext cx="6217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noProof="0" dirty="0">
                <a:solidFill>
                  <a:srgbClr val="A8C5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Engenharia da Computação  |  Teoria da Computação</a:t>
            </a:r>
            <a:endParaRPr lang="pt-BR" sz="1200" noProof="0" dirty="0"/>
          </a:p>
        </p:txBody>
      </p:sp>
      <p:sp>
        <p:nvSpPr>
          <p:cNvPr id="14" name="Shape 12"/>
          <p:cNvSpPr/>
          <p:nvPr/>
        </p:nvSpPr>
        <p:spPr>
          <a:xfrm>
            <a:off x="457200" y="1078992"/>
            <a:ext cx="5943600" cy="36576"/>
          </a:xfrm>
          <a:prstGeom prst="rect">
            <a:avLst/>
          </a:prstGeom>
          <a:solidFill>
            <a:srgbClr val="0D7A8A"/>
          </a:solidFill>
          <a:ln w="12700">
            <a:solidFill>
              <a:srgbClr val="0D7A8A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5" name="Text 13"/>
          <p:cNvSpPr/>
          <p:nvPr/>
        </p:nvSpPr>
        <p:spPr>
          <a:xfrm>
            <a:off x="457200" y="1234440"/>
            <a:ext cx="6217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42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Expressões Regulares</a:t>
            </a:r>
            <a:endParaRPr lang="pt-BR" sz="4200" noProof="0" dirty="0"/>
          </a:p>
        </p:txBody>
      </p:sp>
      <p:sp>
        <p:nvSpPr>
          <p:cNvPr id="16" name="Text 14"/>
          <p:cNvSpPr/>
          <p:nvPr/>
        </p:nvSpPr>
        <p:spPr>
          <a:xfrm>
            <a:off x="457200" y="2212848"/>
            <a:ext cx="6217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800" i="1" noProof="0" dirty="0">
                <a:solidFill>
                  <a:srgbClr val="A8C5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2 — ER: definição, leitura e construção</a:t>
            </a:r>
            <a:endParaRPr lang="pt-BR" sz="1800" noProof="0" dirty="0"/>
          </a:p>
        </p:txBody>
      </p:sp>
      <p:sp>
        <p:nvSpPr>
          <p:cNvPr id="17" name="Shape 15"/>
          <p:cNvSpPr/>
          <p:nvPr/>
        </p:nvSpPr>
        <p:spPr>
          <a:xfrm>
            <a:off x="457200" y="3017520"/>
            <a:ext cx="5943600" cy="1371600"/>
          </a:xfrm>
          <a:prstGeom prst="rect">
            <a:avLst/>
          </a:prstGeom>
          <a:solidFill>
            <a:srgbClr val="0D2035"/>
          </a:solidFill>
          <a:ln w="12700">
            <a:solidFill>
              <a:srgbClr val="0D2035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t-BR" noProof="0" dirty="0"/>
          </a:p>
        </p:txBody>
      </p:sp>
      <p:sp>
        <p:nvSpPr>
          <p:cNvPr id="18" name="Text 16"/>
          <p:cNvSpPr/>
          <p:nvPr/>
        </p:nvSpPr>
        <p:spPr>
          <a:xfrm>
            <a:off x="640080" y="320040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6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Me. José </a:t>
            </a:r>
            <a:r>
              <a:rPr lang="pt-BR" sz="1600" b="1" noProof="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Antonio</a:t>
            </a:r>
            <a:r>
              <a:rPr lang="pt-BR" sz="16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Gallo Junior</a:t>
            </a:r>
            <a:endParaRPr lang="pt-BR" sz="1600" noProof="0" dirty="0"/>
          </a:p>
        </p:txBody>
      </p:sp>
      <p:sp>
        <p:nvSpPr>
          <p:cNvPr id="19" name="Text 17"/>
          <p:cNvSpPr/>
          <p:nvPr/>
        </p:nvSpPr>
        <p:spPr>
          <a:xfrm>
            <a:off x="640080" y="36118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00" noProof="0" dirty="0">
                <a:solidFill>
                  <a:srgbClr val="A8C5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Semestre - Fevereiro / 2026</a:t>
            </a:r>
            <a:endParaRPr lang="pt-BR" sz="1400" noProof="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5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3" name="Text 1"/>
          <p:cNvSpPr/>
          <p:nvPr/>
        </p:nvSpPr>
        <p:spPr>
          <a:xfrm>
            <a:off x="457200" y="16459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8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Sumario da Aula</a:t>
            </a:r>
            <a:endParaRPr lang="pt-BR" sz="2800" noProof="0" dirty="0"/>
          </a:p>
        </p:txBody>
      </p:sp>
      <p:sp>
        <p:nvSpPr>
          <p:cNvPr id="4" name="Shape 2"/>
          <p:cNvSpPr/>
          <p:nvPr/>
        </p:nvSpPr>
        <p:spPr>
          <a:xfrm>
            <a:off x="365760" y="1005840"/>
            <a:ext cx="84124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t-BR" noProof="0" dirty="0"/>
          </a:p>
        </p:txBody>
      </p:sp>
      <p:sp>
        <p:nvSpPr>
          <p:cNvPr id="5" name="Shape 3"/>
          <p:cNvSpPr/>
          <p:nvPr/>
        </p:nvSpPr>
        <p:spPr>
          <a:xfrm>
            <a:off x="365760" y="1005840"/>
            <a:ext cx="594360" cy="100584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365760" y="1261872"/>
            <a:ext cx="594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8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pt-BR" sz="1800" noProof="0" dirty="0"/>
          </a:p>
        </p:txBody>
      </p:sp>
      <p:sp>
        <p:nvSpPr>
          <p:cNvPr id="7" name="Text 5"/>
          <p:cNvSpPr/>
          <p:nvPr/>
        </p:nvSpPr>
        <p:spPr>
          <a:xfrm>
            <a:off x="1078992" y="1115568"/>
            <a:ext cx="7589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500" b="1" noProof="0" dirty="0">
                <a:solidFill>
                  <a:srgbClr val="1A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e uma ER?</a:t>
            </a:r>
            <a:endParaRPr lang="pt-BR" sz="1500" noProof="0" dirty="0"/>
          </a:p>
        </p:txBody>
      </p:sp>
      <p:sp>
        <p:nvSpPr>
          <p:cNvPr id="8" name="Text 6"/>
          <p:cNvSpPr/>
          <p:nvPr/>
        </p:nvSpPr>
        <p:spPr>
          <a:xfrm>
            <a:off x="1078992" y="1508760"/>
            <a:ext cx="7589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noProof="0" dirty="0">
                <a:solidFill>
                  <a:srgbClr val="4A62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 como receita compacta para linguagens</a:t>
            </a:r>
            <a:endParaRPr lang="pt-BR" sz="1300" noProof="0" dirty="0"/>
          </a:p>
        </p:txBody>
      </p:sp>
      <p:sp>
        <p:nvSpPr>
          <p:cNvPr id="9" name="Shape 7"/>
          <p:cNvSpPr/>
          <p:nvPr/>
        </p:nvSpPr>
        <p:spPr>
          <a:xfrm>
            <a:off x="365760" y="2176272"/>
            <a:ext cx="84124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t-BR" noProof="0" dirty="0"/>
          </a:p>
        </p:txBody>
      </p:sp>
      <p:sp>
        <p:nvSpPr>
          <p:cNvPr id="10" name="Shape 8"/>
          <p:cNvSpPr/>
          <p:nvPr/>
        </p:nvSpPr>
        <p:spPr>
          <a:xfrm>
            <a:off x="365760" y="2176272"/>
            <a:ext cx="594360" cy="1005840"/>
          </a:xfrm>
          <a:prstGeom prst="rect">
            <a:avLst/>
          </a:prstGeom>
          <a:solidFill>
            <a:srgbClr val="0D7A8A"/>
          </a:solidFill>
          <a:ln w="12700">
            <a:solidFill>
              <a:srgbClr val="0D7A8A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1" name="Text 9"/>
          <p:cNvSpPr/>
          <p:nvPr/>
        </p:nvSpPr>
        <p:spPr>
          <a:xfrm>
            <a:off x="365760" y="2432304"/>
            <a:ext cx="594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8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pt-BR" sz="1800" noProof="0" dirty="0"/>
          </a:p>
        </p:txBody>
      </p:sp>
      <p:sp>
        <p:nvSpPr>
          <p:cNvPr id="14" name="Shape 12"/>
          <p:cNvSpPr/>
          <p:nvPr/>
        </p:nvSpPr>
        <p:spPr>
          <a:xfrm>
            <a:off x="365760" y="3364992"/>
            <a:ext cx="84124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t-BR" noProof="0" dirty="0"/>
          </a:p>
        </p:txBody>
      </p:sp>
      <p:sp>
        <p:nvSpPr>
          <p:cNvPr id="15" name="Shape 13"/>
          <p:cNvSpPr/>
          <p:nvPr/>
        </p:nvSpPr>
        <p:spPr>
          <a:xfrm>
            <a:off x="365760" y="3364992"/>
            <a:ext cx="594360" cy="1005840"/>
          </a:xfrm>
          <a:prstGeom prst="rect">
            <a:avLst/>
          </a:prstGeom>
          <a:solidFill>
            <a:srgbClr val="5C2D91"/>
          </a:solidFill>
          <a:ln w="12700">
            <a:solidFill>
              <a:srgbClr val="5C2D91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6" name="Text 14"/>
          <p:cNvSpPr/>
          <p:nvPr/>
        </p:nvSpPr>
        <p:spPr>
          <a:xfrm>
            <a:off x="365760" y="3621024"/>
            <a:ext cx="594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8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pt-BR" sz="1800" noProof="0" dirty="0"/>
          </a:p>
        </p:txBody>
      </p:sp>
      <p:sp>
        <p:nvSpPr>
          <p:cNvPr id="17" name="Text 15"/>
          <p:cNvSpPr/>
          <p:nvPr/>
        </p:nvSpPr>
        <p:spPr>
          <a:xfrm>
            <a:off x="1078992" y="3474720"/>
            <a:ext cx="7589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pt-BR" sz="1500" b="1" dirty="0">
                <a:solidFill>
                  <a:srgbClr val="1A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Precedência de operadores</a:t>
            </a:r>
            <a:endParaRPr lang="pt-BR" sz="1500" dirty="0"/>
          </a:p>
        </p:txBody>
      </p:sp>
      <p:sp>
        <p:nvSpPr>
          <p:cNvPr id="18" name="Text 16"/>
          <p:cNvSpPr/>
          <p:nvPr/>
        </p:nvSpPr>
        <p:spPr>
          <a:xfrm>
            <a:off x="1078992" y="3867912"/>
            <a:ext cx="7589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pt-BR" sz="1300" dirty="0">
                <a:solidFill>
                  <a:srgbClr val="4A62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&gt; concatenação &gt; |</a:t>
            </a:r>
            <a:endParaRPr lang="pt-BR" sz="1300" dirty="0"/>
          </a:p>
        </p:txBody>
      </p:sp>
      <p:sp>
        <p:nvSpPr>
          <p:cNvPr id="19" name="Shape 17"/>
          <p:cNvSpPr/>
          <p:nvPr/>
        </p:nvSpPr>
        <p:spPr>
          <a:xfrm>
            <a:off x="365760" y="1005840"/>
            <a:ext cx="4023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t-BR" noProof="0" dirty="0"/>
          </a:p>
        </p:txBody>
      </p:sp>
      <p:sp>
        <p:nvSpPr>
          <p:cNvPr id="20" name="Shape 18"/>
          <p:cNvSpPr/>
          <p:nvPr/>
        </p:nvSpPr>
        <p:spPr>
          <a:xfrm>
            <a:off x="365760" y="1005840"/>
            <a:ext cx="594360" cy="100584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21" name="Text 19"/>
          <p:cNvSpPr/>
          <p:nvPr/>
        </p:nvSpPr>
        <p:spPr>
          <a:xfrm>
            <a:off x="365760" y="1261872"/>
            <a:ext cx="594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8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pt-BR" sz="1800" noProof="0" dirty="0"/>
          </a:p>
        </p:txBody>
      </p:sp>
      <p:sp>
        <p:nvSpPr>
          <p:cNvPr id="22" name="Text 20"/>
          <p:cNvSpPr/>
          <p:nvPr/>
        </p:nvSpPr>
        <p:spPr>
          <a:xfrm>
            <a:off x="5468112" y="1100915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500" b="1" noProof="0" dirty="0">
                <a:solidFill>
                  <a:srgbClr val="1A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Construindo </a:t>
            </a:r>
            <a:r>
              <a:rPr lang="pt-BR" sz="1500" b="1" noProof="0" dirty="0" err="1">
                <a:solidFill>
                  <a:srgbClr val="1A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ERs</a:t>
            </a:r>
            <a:endParaRPr lang="pt-BR" sz="1500" noProof="0" dirty="0"/>
          </a:p>
        </p:txBody>
      </p:sp>
      <p:sp>
        <p:nvSpPr>
          <p:cNvPr id="23" name="Text 21"/>
          <p:cNvSpPr/>
          <p:nvPr/>
        </p:nvSpPr>
        <p:spPr>
          <a:xfrm>
            <a:off x="5468112" y="1494107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pt-BR" sz="1300" dirty="0">
                <a:solidFill>
                  <a:srgbClr val="4A62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Receitas: termina com, começa com, contem</a:t>
            </a:r>
            <a:endParaRPr lang="pt-BR" sz="1300" dirty="0"/>
          </a:p>
        </p:txBody>
      </p:sp>
      <p:sp>
        <p:nvSpPr>
          <p:cNvPr id="24" name="Shape 22"/>
          <p:cNvSpPr/>
          <p:nvPr/>
        </p:nvSpPr>
        <p:spPr>
          <a:xfrm>
            <a:off x="4754880" y="2176272"/>
            <a:ext cx="4023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t-BR" noProof="0" dirty="0"/>
          </a:p>
        </p:txBody>
      </p:sp>
      <p:sp>
        <p:nvSpPr>
          <p:cNvPr id="25" name="Shape 23"/>
          <p:cNvSpPr/>
          <p:nvPr/>
        </p:nvSpPr>
        <p:spPr>
          <a:xfrm>
            <a:off x="4754880" y="2176272"/>
            <a:ext cx="594360" cy="1005840"/>
          </a:xfrm>
          <a:prstGeom prst="rect">
            <a:avLst/>
          </a:prstGeom>
          <a:solidFill>
            <a:srgbClr val="0D7A8A"/>
          </a:solidFill>
          <a:ln w="12700">
            <a:solidFill>
              <a:srgbClr val="0D7A8A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26" name="Text 24"/>
          <p:cNvSpPr/>
          <p:nvPr/>
        </p:nvSpPr>
        <p:spPr>
          <a:xfrm>
            <a:off x="4754880" y="2432304"/>
            <a:ext cx="594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8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pt-BR" sz="1800" noProof="0" dirty="0"/>
          </a:p>
        </p:txBody>
      </p:sp>
      <p:sp>
        <p:nvSpPr>
          <p:cNvPr id="27" name="Text 25"/>
          <p:cNvSpPr/>
          <p:nvPr/>
        </p:nvSpPr>
        <p:spPr>
          <a:xfrm>
            <a:off x="5468112" y="2286000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500" b="1" noProof="0" dirty="0">
                <a:solidFill>
                  <a:srgbClr val="1A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Erros Comuns — Fique Atento!</a:t>
            </a:r>
          </a:p>
        </p:txBody>
      </p:sp>
      <p:sp>
        <p:nvSpPr>
          <p:cNvPr id="28" name="Text 26"/>
          <p:cNvSpPr/>
          <p:nvPr/>
        </p:nvSpPr>
        <p:spPr>
          <a:xfrm>
            <a:off x="5468112" y="267919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noProof="0" dirty="0">
                <a:solidFill>
                  <a:srgbClr val="4A62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Cuidados ao escrever expressões</a:t>
            </a:r>
            <a:endParaRPr lang="pt-BR" sz="1300" noProof="0" dirty="0"/>
          </a:p>
        </p:txBody>
      </p:sp>
      <p:sp>
        <p:nvSpPr>
          <p:cNvPr id="12" name="Text 10"/>
          <p:cNvSpPr/>
          <p:nvPr/>
        </p:nvSpPr>
        <p:spPr>
          <a:xfrm>
            <a:off x="1078992" y="1115568"/>
            <a:ext cx="7589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500" b="1" noProof="0" dirty="0">
                <a:solidFill>
                  <a:srgbClr val="1A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e uma Expressão Regular?</a:t>
            </a:r>
          </a:p>
        </p:txBody>
      </p:sp>
      <p:sp>
        <p:nvSpPr>
          <p:cNvPr id="13" name="Text 11"/>
          <p:cNvSpPr/>
          <p:nvPr/>
        </p:nvSpPr>
        <p:spPr>
          <a:xfrm>
            <a:off x="1078992" y="1508760"/>
            <a:ext cx="7589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noProof="0" dirty="0">
                <a:solidFill>
                  <a:srgbClr val="4A62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Conceito e operações fundamentais</a:t>
            </a:r>
            <a:endParaRPr lang="pt-BR" sz="1300" noProof="0" dirty="0"/>
          </a:p>
        </p:txBody>
      </p:sp>
      <p:sp>
        <p:nvSpPr>
          <p:cNvPr id="29" name="Text 10">
            <a:extLst>
              <a:ext uri="{FF2B5EF4-FFF2-40B4-BE49-F238E27FC236}">
                <a16:creationId xmlns:a16="http://schemas.microsoft.com/office/drawing/2014/main" id="{45E10D32-1F13-108D-3102-82047660CA7C}"/>
              </a:ext>
            </a:extLst>
          </p:cNvPr>
          <p:cNvSpPr/>
          <p:nvPr/>
        </p:nvSpPr>
        <p:spPr>
          <a:xfrm>
            <a:off x="1078992" y="2279435"/>
            <a:ext cx="7589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500" b="1" noProof="0" dirty="0">
                <a:solidFill>
                  <a:srgbClr val="1A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Definição Formal</a:t>
            </a:r>
            <a:endParaRPr lang="pt-BR" sz="1500" noProof="0" dirty="0"/>
          </a:p>
        </p:txBody>
      </p:sp>
      <p:sp>
        <p:nvSpPr>
          <p:cNvPr id="30" name="Text 11">
            <a:extLst>
              <a:ext uri="{FF2B5EF4-FFF2-40B4-BE49-F238E27FC236}">
                <a16:creationId xmlns:a16="http://schemas.microsoft.com/office/drawing/2014/main" id="{BE631F3C-8469-C0BD-87A8-4F9FB6970BB2}"/>
              </a:ext>
            </a:extLst>
          </p:cNvPr>
          <p:cNvSpPr/>
          <p:nvPr/>
        </p:nvSpPr>
        <p:spPr>
          <a:xfrm>
            <a:off x="1078992" y="2672627"/>
            <a:ext cx="7589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noProof="0" dirty="0">
                <a:solidFill>
                  <a:srgbClr val="4A62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Casos base e regras de construção</a:t>
            </a:r>
            <a:endParaRPr lang="pt-BR" sz="1300" noProof="0" dirty="0"/>
          </a:p>
        </p:txBody>
      </p:sp>
      <p:sp>
        <p:nvSpPr>
          <p:cNvPr id="31" name="Shape 18">
            <a:extLst>
              <a:ext uri="{FF2B5EF4-FFF2-40B4-BE49-F238E27FC236}">
                <a16:creationId xmlns:a16="http://schemas.microsoft.com/office/drawing/2014/main" id="{06D55B03-8513-BAC9-5B36-B278F4296A59}"/>
              </a:ext>
            </a:extLst>
          </p:cNvPr>
          <p:cNvSpPr/>
          <p:nvPr/>
        </p:nvSpPr>
        <p:spPr>
          <a:xfrm>
            <a:off x="4754880" y="1017563"/>
            <a:ext cx="594360" cy="100584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32" name="Text 19">
            <a:extLst>
              <a:ext uri="{FF2B5EF4-FFF2-40B4-BE49-F238E27FC236}">
                <a16:creationId xmlns:a16="http://schemas.microsoft.com/office/drawing/2014/main" id="{1A6ACFAE-1876-B16C-30A3-8191BA06B02D}"/>
              </a:ext>
            </a:extLst>
          </p:cNvPr>
          <p:cNvSpPr/>
          <p:nvPr/>
        </p:nvSpPr>
        <p:spPr>
          <a:xfrm>
            <a:off x="4754880" y="1273595"/>
            <a:ext cx="594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8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pt-BR" sz="1800" noProof="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5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3" name="Text 1"/>
          <p:cNvSpPr/>
          <p:nvPr/>
        </p:nvSpPr>
        <p:spPr>
          <a:xfrm>
            <a:off x="457200" y="16459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6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e uma Expressão Regular?</a:t>
            </a:r>
            <a:endParaRPr lang="pt-BR" sz="2600" noProof="0" dirty="0"/>
          </a:p>
        </p:txBody>
      </p:sp>
      <p:sp>
        <p:nvSpPr>
          <p:cNvPr id="4" name="Shape 2"/>
          <p:cNvSpPr/>
          <p:nvPr/>
        </p:nvSpPr>
        <p:spPr>
          <a:xfrm>
            <a:off x="365760" y="1005840"/>
            <a:ext cx="8412480" cy="914400"/>
          </a:xfrm>
          <a:prstGeom prst="rect">
            <a:avLst/>
          </a:prstGeom>
          <a:solidFill>
            <a:srgbClr val="E8F4F8"/>
          </a:solidFill>
          <a:ln w="12700">
            <a:solidFill>
              <a:srgbClr val="0D7A8A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5" name="Text 3"/>
          <p:cNvSpPr/>
          <p:nvPr/>
        </p:nvSpPr>
        <p:spPr>
          <a:xfrm>
            <a:off x="548640" y="1115568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600" b="1" noProof="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Intuição:  Uma ER e como uma receita que descreve quais </a:t>
            </a:r>
            <a:r>
              <a:rPr lang="pt-BR" sz="1600" b="1" noProof="0" dirty="0" err="1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strings</a:t>
            </a:r>
            <a:r>
              <a:rPr lang="pt-BR" sz="1600" b="1" noProof="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são aceitas.</a:t>
            </a:r>
            <a:endParaRPr lang="pt-BR" sz="1600" noProof="0" dirty="0"/>
          </a:p>
        </p:txBody>
      </p:sp>
      <p:sp>
        <p:nvSpPr>
          <p:cNvPr id="6" name="Text 4"/>
          <p:cNvSpPr/>
          <p:nvPr/>
        </p:nvSpPr>
        <p:spPr>
          <a:xfrm>
            <a:off x="548640" y="1481328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00" noProof="0" dirty="0">
                <a:solidFill>
                  <a:srgbClr val="1A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 não produz apenas uma </a:t>
            </a:r>
            <a:r>
              <a:rPr lang="pt-BR" sz="1400" b="1" noProof="0" dirty="0" err="1">
                <a:solidFill>
                  <a:srgbClr val="1A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string</a:t>
            </a:r>
            <a:r>
              <a:rPr lang="pt-BR" sz="1400" noProof="0" dirty="0">
                <a:solidFill>
                  <a:srgbClr val="1A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ela descreve um conjunto inteiro de </a:t>
            </a:r>
            <a:r>
              <a:rPr lang="pt-BR" sz="1400" b="1" noProof="0" dirty="0" err="1">
                <a:solidFill>
                  <a:srgbClr val="1A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strings</a:t>
            </a:r>
            <a:r>
              <a:rPr lang="pt-BR" sz="1400" noProof="0" dirty="0">
                <a:solidFill>
                  <a:srgbClr val="1A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pt-BR" sz="1400" noProof="0" dirty="0"/>
          </a:p>
        </p:txBody>
      </p:sp>
      <p:sp>
        <p:nvSpPr>
          <p:cNvPr id="7" name="Text 5"/>
          <p:cNvSpPr/>
          <p:nvPr/>
        </p:nvSpPr>
        <p:spPr>
          <a:xfrm>
            <a:off x="457200" y="205740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500" b="1" noProof="0" dirty="0">
                <a:solidFill>
                  <a:srgbClr val="1A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operações fundamentais:</a:t>
            </a:r>
            <a:endParaRPr lang="pt-BR" sz="1500" noProof="0" dirty="0"/>
          </a:p>
        </p:txBody>
      </p:sp>
      <p:sp>
        <p:nvSpPr>
          <p:cNvPr id="8" name="Shape 6"/>
          <p:cNvSpPr/>
          <p:nvPr/>
        </p:nvSpPr>
        <p:spPr>
          <a:xfrm>
            <a:off x="365760" y="2468880"/>
            <a:ext cx="274320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t-BR" noProof="0" dirty="0"/>
          </a:p>
        </p:txBody>
      </p:sp>
      <p:sp>
        <p:nvSpPr>
          <p:cNvPr id="9" name="Shape 7"/>
          <p:cNvSpPr/>
          <p:nvPr/>
        </p:nvSpPr>
        <p:spPr>
          <a:xfrm>
            <a:off x="365760" y="2468880"/>
            <a:ext cx="2743200" cy="64008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0" name="Text 8"/>
          <p:cNvSpPr/>
          <p:nvPr/>
        </p:nvSpPr>
        <p:spPr>
          <a:xfrm>
            <a:off x="365760" y="2487168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3200" b="1" noProof="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</a:t>
            </a:r>
            <a:endParaRPr lang="pt-BR" sz="3200" noProof="0" dirty="0"/>
          </a:p>
        </p:txBody>
      </p:sp>
      <p:sp>
        <p:nvSpPr>
          <p:cNvPr id="11" name="Text 9"/>
          <p:cNvSpPr/>
          <p:nvPr/>
        </p:nvSpPr>
        <p:spPr>
          <a:xfrm>
            <a:off x="457200" y="320040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500" b="1" noProof="0" dirty="0">
                <a:solidFill>
                  <a:srgbClr val="1A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 (Uniao)</a:t>
            </a:r>
            <a:endParaRPr lang="pt-BR" sz="1500" noProof="0" dirty="0"/>
          </a:p>
        </p:txBody>
      </p:sp>
      <p:sp>
        <p:nvSpPr>
          <p:cNvPr id="12" name="Text 10"/>
          <p:cNvSpPr/>
          <p:nvPr/>
        </p:nvSpPr>
        <p:spPr>
          <a:xfrm>
            <a:off x="457200" y="3611880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noProof="0" dirty="0">
                <a:solidFill>
                  <a:srgbClr val="4A62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 </a:t>
            </a:r>
            <a:r>
              <a:rPr lang="pt-BR" sz="1300" b="1" noProof="0" dirty="0" err="1">
                <a:solidFill>
                  <a:srgbClr val="4A62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string</a:t>
            </a:r>
            <a:r>
              <a:rPr lang="pt-BR" sz="1300" noProof="0" dirty="0">
                <a:solidFill>
                  <a:srgbClr val="4A62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OU aquela</a:t>
            </a:r>
            <a:endParaRPr lang="pt-BR" sz="1300" noProof="0" dirty="0"/>
          </a:p>
        </p:txBody>
      </p:sp>
      <p:sp>
        <p:nvSpPr>
          <p:cNvPr id="13" name="Shape 11"/>
          <p:cNvSpPr/>
          <p:nvPr/>
        </p:nvSpPr>
        <p:spPr>
          <a:xfrm>
            <a:off x="457200" y="4041648"/>
            <a:ext cx="2560320" cy="594360"/>
          </a:xfrm>
          <a:prstGeom prst="rect">
            <a:avLst/>
          </a:prstGeom>
          <a:solidFill>
            <a:srgbClr val="F0F5FA"/>
          </a:solidFill>
          <a:ln w="12700">
            <a:solidFill>
              <a:srgbClr val="F0F5FA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4" name="Text 12"/>
          <p:cNvSpPr/>
          <p:nvPr/>
        </p:nvSpPr>
        <p:spPr>
          <a:xfrm>
            <a:off x="502920" y="4096512"/>
            <a:ext cx="2468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b="1" noProof="0" dirty="0">
                <a:solidFill>
                  <a:srgbClr val="1A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0|1  aceita {0, 1}</a:t>
            </a:r>
            <a:endParaRPr lang="pt-BR" sz="1300" noProof="0" dirty="0"/>
          </a:p>
        </p:txBody>
      </p:sp>
      <p:sp>
        <p:nvSpPr>
          <p:cNvPr id="15" name="Shape 13"/>
          <p:cNvSpPr/>
          <p:nvPr/>
        </p:nvSpPr>
        <p:spPr>
          <a:xfrm>
            <a:off x="3246120" y="2468880"/>
            <a:ext cx="274320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t-BR" noProof="0" dirty="0"/>
          </a:p>
        </p:txBody>
      </p:sp>
      <p:sp>
        <p:nvSpPr>
          <p:cNvPr id="16" name="Shape 14"/>
          <p:cNvSpPr/>
          <p:nvPr/>
        </p:nvSpPr>
        <p:spPr>
          <a:xfrm>
            <a:off x="3246120" y="2468880"/>
            <a:ext cx="2743200" cy="640080"/>
          </a:xfrm>
          <a:prstGeom prst="rect">
            <a:avLst/>
          </a:prstGeom>
          <a:solidFill>
            <a:srgbClr val="0D7A8A"/>
          </a:solidFill>
          <a:ln w="12700">
            <a:solidFill>
              <a:srgbClr val="0D7A8A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7" name="Text 15"/>
          <p:cNvSpPr/>
          <p:nvPr/>
        </p:nvSpPr>
        <p:spPr>
          <a:xfrm>
            <a:off x="3246120" y="2487168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3200" b="1" noProof="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</a:t>
            </a:r>
            <a:endParaRPr lang="pt-BR" sz="3200" noProof="0" dirty="0"/>
          </a:p>
        </p:txBody>
      </p:sp>
      <p:sp>
        <p:nvSpPr>
          <p:cNvPr id="18" name="Text 16"/>
          <p:cNvSpPr/>
          <p:nvPr/>
        </p:nvSpPr>
        <p:spPr>
          <a:xfrm>
            <a:off x="3337560" y="320040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500" b="1" noProof="0" dirty="0">
                <a:solidFill>
                  <a:srgbClr val="1A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Sequencia</a:t>
            </a:r>
            <a:endParaRPr lang="pt-BR" sz="1500" noProof="0" dirty="0"/>
          </a:p>
        </p:txBody>
      </p:sp>
      <p:sp>
        <p:nvSpPr>
          <p:cNvPr id="19" name="Text 17"/>
          <p:cNvSpPr/>
          <p:nvPr/>
        </p:nvSpPr>
        <p:spPr>
          <a:xfrm>
            <a:off x="3337560" y="3611880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noProof="0" dirty="0">
                <a:solidFill>
                  <a:srgbClr val="4A62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 </a:t>
            </a:r>
            <a:r>
              <a:rPr lang="pt-BR" sz="1300" b="1" noProof="0" dirty="0" err="1">
                <a:solidFill>
                  <a:srgbClr val="4A62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string</a:t>
            </a:r>
            <a:r>
              <a:rPr lang="pt-BR" sz="1300" noProof="0" dirty="0">
                <a:solidFill>
                  <a:srgbClr val="4A62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SEGUIDA de outra</a:t>
            </a:r>
            <a:endParaRPr lang="pt-BR" sz="1300" noProof="0" dirty="0"/>
          </a:p>
        </p:txBody>
      </p:sp>
      <p:sp>
        <p:nvSpPr>
          <p:cNvPr id="20" name="Shape 18"/>
          <p:cNvSpPr/>
          <p:nvPr/>
        </p:nvSpPr>
        <p:spPr>
          <a:xfrm>
            <a:off x="3337560" y="4041648"/>
            <a:ext cx="2560320" cy="594360"/>
          </a:xfrm>
          <a:prstGeom prst="rect">
            <a:avLst/>
          </a:prstGeom>
          <a:solidFill>
            <a:srgbClr val="F0F5FA"/>
          </a:solidFill>
          <a:ln w="12700">
            <a:solidFill>
              <a:srgbClr val="F0F5FA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21" name="Text 19"/>
          <p:cNvSpPr/>
          <p:nvPr/>
        </p:nvSpPr>
        <p:spPr>
          <a:xfrm>
            <a:off x="3383280" y="4096512"/>
            <a:ext cx="2468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b="1" noProof="0" dirty="0">
                <a:solidFill>
                  <a:srgbClr val="0D7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 aceita {01}</a:t>
            </a:r>
            <a:endParaRPr lang="pt-BR" sz="1300" noProof="0" dirty="0"/>
          </a:p>
        </p:txBody>
      </p:sp>
      <p:sp>
        <p:nvSpPr>
          <p:cNvPr id="22" name="Shape 20"/>
          <p:cNvSpPr/>
          <p:nvPr/>
        </p:nvSpPr>
        <p:spPr>
          <a:xfrm>
            <a:off x="6126480" y="2468880"/>
            <a:ext cx="274320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t-BR" noProof="0" dirty="0"/>
          </a:p>
        </p:txBody>
      </p:sp>
      <p:sp>
        <p:nvSpPr>
          <p:cNvPr id="23" name="Shape 21"/>
          <p:cNvSpPr/>
          <p:nvPr/>
        </p:nvSpPr>
        <p:spPr>
          <a:xfrm>
            <a:off x="6126480" y="2468880"/>
            <a:ext cx="2743200" cy="640080"/>
          </a:xfrm>
          <a:prstGeom prst="rect">
            <a:avLst/>
          </a:prstGeom>
          <a:solidFill>
            <a:srgbClr val="5C2D91"/>
          </a:solidFill>
          <a:ln w="12700">
            <a:solidFill>
              <a:srgbClr val="5C2D91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24" name="Text 22"/>
          <p:cNvSpPr/>
          <p:nvPr/>
        </p:nvSpPr>
        <p:spPr>
          <a:xfrm>
            <a:off x="6126480" y="2487168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3200" b="1" noProof="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</a:t>
            </a:r>
            <a:endParaRPr lang="pt-BR" sz="3200" noProof="0" dirty="0"/>
          </a:p>
        </p:txBody>
      </p:sp>
      <p:sp>
        <p:nvSpPr>
          <p:cNvPr id="25" name="Text 23"/>
          <p:cNvSpPr/>
          <p:nvPr/>
        </p:nvSpPr>
        <p:spPr>
          <a:xfrm>
            <a:off x="6217920" y="320040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500" b="1" noProof="0" dirty="0">
                <a:solidFill>
                  <a:srgbClr val="1A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Repetição</a:t>
            </a:r>
            <a:endParaRPr lang="pt-BR" sz="1500" noProof="0" dirty="0"/>
          </a:p>
        </p:txBody>
      </p:sp>
      <p:sp>
        <p:nvSpPr>
          <p:cNvPr id="26" name="Text 24"/>
          <p:cNvSpPr/>
          <p:nvPr/>
        </p:nvSpPr>
        <p:spPr>
          <a:xfrm>
            <a:off x="6217920" y="3611880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noProof="0" dirty="0">
                <a:solidFill>
                  <a:srgbClr val="4A62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 </a:t>
            </a:r>
            <a:r>
              <a:rPr lang="pt-BR" sz="1300" noProof="0" dirty="0" err="1">
                <a:solidFill>
                  <a:srgbClr val="4A62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string</a:t>
            </a:r>
            <a:r>
              <a:rPr lang="pt-BR" sz="1300" noProof="0" dirty="0">
                <a:solidFill>
                  <a:srgbClr val="4A62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ZERO OU MAIS vezes</a:t>
            </a:r>
            <a:endParaRPr lang="pt-BR" sz="1300" noProof="0" dirty="0"/>
          </a:p>
        </p:txBody>
      </p:sp>
      <p:sp>
        <p:nvSpPr>
          <p:cNvPr id="27" name="Shape 25"/>
          <p:cNvSpPr/>
          <p:nvPr/>
        </p:nvSpPr>
        <p:spPr>
          <a:xfrm>
            <a:off x="6217920" y="4041648"/>
            <a:ext cx="2560320" cy="594360"/>
          </a:xfrm>
          <a:prstGeom prst="rect">
            <a:avLst/>
          </a:prstGeom>
          <a:solidFill>
            <a:srgbClr val="F0F5FA"/>
          </a:solidFill>
          <a:ln w="12700">
            <a:solidFill>
              <a:srgbClr val="F0F5FA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28" name="Text 26"/>
          <p:cNvSpPr/>
          <p:nvPr/>
        </p:nvSpPr>
        <p:spPr>
          <a:xfrm>
            <a:off x="6263640" y="4096512"/>
            <a:ext cx="2468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b="1" noProof="0" dirty="0">
                <a:solidFill>
                  <a:srgbClr val="5C2D9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1*  aceita {e, 1, 11, ...}</a:t>
            </a:r>
            <a:endParaRPr lang="pt-BR" sz="1300" noProof="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5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7A8A"/>
          </a:solidFill>
          <a:ln w="12700">
            <a:solidFill>
              <a:srgbClr val="0D7A8A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3" name="Text 1"/>
          <p:cNvSpPr/>
          <p:nvPr/>
        </p:nvSpPr>
        <p:spPr>
          <a:xfrm>
            <a:off x="457200" y="16459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8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Definição Formal e L(r)</a:t>
            </a:r>
            <a:endParaRPr lang="pt-BR" sz="2800" noProof="0" dirty="0"/>
          </a:p>
        </p:txBody>
      </p:sp>
      <p:sp>
        <p:nvSpPr>
          <p:cNvPr id="4" name="Shape 2"/>
          <p:cNvSpPr/>
          <p:nvPr/>
        </p:nvSpPr>
        <p:spPr>
          <a:xfrm>
            <a:off x="365760" y="1005840"/>
            <a:ext cx="402336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t-BR" noProof="0" dirty="0"/>
          </a:p>
        </p:txBody>
      </p:sp>
      <p:sp>
        <p:nvSpPr>
          <p:cNvPr id="5" name="Shape 3"/>
          <p:cNvSpPr/>
          <p:nvPr/>
        </p:nvSpPr>
        <p:spPr>
          <a:xfrm>
            <a:off x="365760" y="1005840"/>
            <a:ext cx="4023360" cy="411480"/>
          </a:xfrm>
          <a:prstGeom prst="rect">
            <a:avLst/>
          </a:prstGeom>
          <a:solidFill>
            <a:srgbClr val="0D7A8A"/>
          </a:solidFill>
          <a:ln w="12700">
            <a:solidFill>
              <a:srgbClr val="0D7A8A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Casos Base</a:t>
            </a:r>
            <a:endParaRPr lang="pt-BR" sz="1400" noProof="0" dirty="0"/>
          </a:p>
        </p:txBody>
      </p:sp>
      <p:sp>
        <p:nvSpPr>
          <p:cNvPr id="7" name="Shape 5"/>
          <p:cNvSpPr/>
          <p:nvPr/>
        </p:nvSpPr>
        <p:spPr>
          <a:xfrm>
            <a:off x="475488" y="1536192"/>
            <a:ext cx="3794760" cy="640080"/>
          </a:xfrm>
          <a:prstGeom prst="rect">
            <a:avLst/>
          </a:prstGeom>
          <a:solidFill>
            <a:srgbClr val="F0F5FA"/>
          </a:solidFill>
          <a:ln w="12700">
            <a:solidFill>
              <a:srgbClr val="F0F5FA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8" name="Text 6"/>
          <p:cNvSpPr/>
          <p:nvPr/>
        </p:nvSpPr>
        <p:spPr>
          <a:xfrm>
            <a:off x="548640" y="1572768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500" b="1" noProof="0" dirty="0" err="1">
                <a:solidFill>
                  <a:srgbClr val="0D7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empty</a:t>
            </a:r>
            <a:r>
              <a:rPr lang="pt-BR" sz="1500" b="1" noProof="0" dirty="0">
                <a:solidFill>
                  <a:srgbClr val="0D7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-set</a:t>
            </a:r>
            <a:endParaRPr lang="pt-BR" sz="1500" noProof="0" dirty="0"/>
          </a:p>
        </p:txBody>
      </p:sp>
      <p:sp>
        <p:nvSpPr>
          <p:cNvPr id="9" name="Text 7"/>
          <p:cNvSpPr/>
          <p:nvPr/>
        </p:nvSpPr>
        <p:spPr>
          <a:xfrm>
            <a:off x="548640" y="1865376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noProof="0" dirty="0">
                <a:solidFill>
                  <a:srgbClr val="4A62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L(</a:t>
            </a:r>
            <a:r>
              <a:rPr lang="pt-BR" sz="1200" noProof="0" dirty="0" err="1">
                <a:solidFill>
                  <a:srgbClr val="4A62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empty</a:t>
            </a:r>
            <a:r>
              <a:rPr lang="pt-BR" sz="1200" noProof="0" dirty="0">
                <a:solidFill>
                  <a:srgbClr val="4A62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-set) = {} (nenhuma </a:t>
            </a:r>
            <a:r>
              <a:rPr lang="pt-BR" sz="1200" noProof="0" dirty="0" err="1">
                <a:solidFill>
                  <a:srgbClr val="4A62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string</a:t>
            </a:r>
            <a:r>
              <a:rPr lang="pt-BR" sz="1200" noProof="0" dirty="0">
                <a:solidFill>
                  <a:srgbClr val="4A62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pt-BR" sz="1200" noProof="0" dirty="0"/>
          </a:p>
        </p:txBody>
      </p:sp>
      <p:sp>
        <p:nvSpPr>
          <p:cNvPr id="10" name="Shape 8"/>
          <p:cNvSpPr/>
          <p:nvPr/>
        </p:nvSpPr>
        <p:spPr>
          <a:xfrm>
            <a:off x="475488" y="2267712"/>
            <a:ext cx="3794760" cy="640080"/>
          </a:xfrm>
          <a:prstGeom prst="rect">
            <a:avLst/>
          </a:prstGeom>
          <a:solidFill>
            <a:srgbClr val="F0F5FA"/>
          </a:solidFill>
          <a:ln w="12700">
            <a:solidFill>
              <a:srgbClr val="F0F5FA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1" name="Text 9"/>
          <p:cNvSpPr/>
          <p:nvPr/>
        </p:nvSpPr>
        <p:spPr>
          <a:xfrm>
            <a:off x="548640" y="2304288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500" b="1" noProof="0" dirty="0" err="1">
                <a:solidFill>
                  <a:srgbClr val="0D7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epsilon</a:t>
            </a:r>
            <a:endParaRPr lang="pt-BR" sz="1500" noProof="0" dirty="0"/>
          </a:p>
        </p:txBody>
      </p:sp>
      <p:sp>
        <p:nvSpPr>
          <p:cNvPr id="12" name="Text 10"/>
          <p:cNvSpPr/>
          <p:nvPr/>
        </p:nvSpPr>
        <p:spPr>
          <a:xfrm>
            <a:off x="548640" y="2596896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noProof="0" dirty="0">
                <a:solidFill>
                  <a:srgbClr val="4A62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L(</a:t>
            </a:r>
            <a:r>
              <a:rPr lang="pt-BR" sz="1200" noProof="0" dirty="0" err="1">
                <a:solidFill>
                  <a:srgbClr val="4A62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epsilon</a:t>
            </a:r>
            <a:r>
              <a:rPr lang="pt-BR" sz="1200" noProof="0" dirty="0">
                <a:solidFill>
                  <a:srgbClr val="4A62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= {</a:t>
            </a:r>
            <a:r>
              <a:rPr lang="pt-BR" sz="1200" noProof="0" dirty="0" err="1">
                <a:solidFill>
                  <a:srgbClr val="4A62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epsilon</a:t>
            </a:r>
            <a:r>
              <a:rPr lang="pt-BR" sz="1200" noProof="0" dirty="0">
                <a:solidFill>
                  <a:srgbClr val="4A62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} (</a:t>
            </a:r>
            <a:r>
              <a:rPr lang="pt-BR" sz="1200" noProof="0" dirty="0" err="1">
                <a:solidFill>
                  <a:srgbClr val="4A62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</a:t>
            </a:r>
            <a:r>
              <a:rPr lang="pt-BR" sz="1200" noProof="0" dirty="0">
                <a:solidFill>
                  <a:srgbClr val="4A62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</a:t>
            </a:r>
            <a:r>
              <a:rPr lang="pt-BR" sz="1200" noProof="0" dirty="0" err="1">
                <a:solidFill>
                  <a:srgbClr val="4A62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string</a:t>
            </a:r>
            <a:r>
              <a:rPr lang="pt-BR" sz="1200" noProof="0" dirty="0">
                <a:solidFill>
                  <a:srgbClr val="4A62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vazia)</a:t>
            </a:r>
            <a:endParaRPr lang="pt-BR" sz="1200" noProof="0" dirty="0"/>
          </a:p>
        </p:txBody>
      </p:sp>
      <p:sp>
        <p:nvSpPr>
          <p:cNvPr id="13" name="Shape 11"/>
          <p:cNvSpPr/>
          <p:nvPr/>
        </p:nvSpPr>
        <p:spPr>
          <a:xfrm>
            <a:off x="475488" y="2999232"/>
            <a:ext cx="3794760" cy="640080"/>
          </a:xfrm>
          <a:prstGeom prst="rect">
            <a:avLst/>
          </a:prstGeom>
          <a:solidFill>
            <a:srgbClr val="F0F5FA"/>
          </a:solidFill>
          <a:ln w="12700">
            <a:solidFill>
              <a:srgbClr val="F0F5FA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4" name="Text 12"/>
          <p:cNvSpPr/>
          <p:nvPr/>
        </p:nvSpPr>
        <p:spPr>
          <a:xfrm>
            <a:off x="548640" y="3035808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500" b="1" noProof="0" dirty="0">
                <a:solidFill>
                  <a:srgbClr val="0D7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in Sigma</a:t>
            </a:r>
            <a:endParaRPr lang="pt-BR" sz="1500" noProof="0" dirty="0"/>
          </a:p>
        </p:txBody>
      </p:sp>
      <p:sp>
        <p:nvSpPr>
          <p:cNvPr id="15" name="Text 13"/>
          <p:cNvSpPr/>
          <p:nvPr/>
        </p:nvSpPr>
        <p:spPr>
          <a:xfrm>
            <a:off x="548640" y="3328416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noProof="0" dirty="0">
                <a:solidFill>
                  <a:srgbClr val="4A62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L(a) = {a} (só o símbolo a)</a:t>
            </a:r>
            <a:endParaRPr lang="pt-BR" sz="1200" noProof="0" dirty="0"/>
          </a:p>
        </p:txBody>
      </p:sp>
      <p:sp>
        <p:nvSpPr>
          <p:cNvPr id="16" name="Shape 14"/>
          <p:cNvSpPr/>
          <p:nvPr/>
        </p:nvSpPr>
        <p:spPr>
          <a:xfrm>
            <a:off x="475488" y="3657600"/>
            <a:ext cx="3794760" cy="804672"/>
          </a:xfrm>
          <a:prstGeom prst="rect">
            <a:avLst/>
          </a:prstGeom>
          <a:solidFill>
            <a:srgbClr val="E8F4F8"/>
          </a:solidFill>
          <a:ln w="12700">
            <a:solidFill>
              <a:srgbClr val="B3D9E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7" name="Text 15"/>
          <p:cNvSpPr/>
          <p:nvPr/>
        </p:nvSpPr>
        <p:spPr>
          <a:xfrm>
            <a:off x="566928" y="37033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b="1" noProof="0" dirty="0">
                <a:solidFill>
                  <a:srgbClr val="0D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Construção:</a:t>
            </a:r>
            <a:endParaRPr lang="pt-BR" sz="1300" noProof="0" dirty="0"/>
          </a:p>
        </p:txBody>
      </p:sp>
      <p:sp>
        <p:nvSpPr>
          <p:cNvPr id="18" name="Text 16"/>
          <p:cNvSpPr/>
          <p:nvPr/>
        </p:nvSpPr>
        <p:spPr>
          <a:xfrm>
            <a:off x="566928" y="397764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b="1" noProof="0" dirty="0">
                <a:solidFill>
                  <a:srgbClr val="1A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r e s são ER, então  (</a:t>
            </a:r>
            <a:r>
              <a:rPr lang="pt-BR" sz="1200" b="1" noProof="0" dirty="0" err="1">
                <a:solidFill>
                  <a:srgbClr val="1A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r|s</a:t>
            </a:r>
            <a:r>
              <a:rPr lang="pt-BR" sz="1200" b="1" noProof="0" dirty="0">
                <a:solidFill>
                  <a:srgbClr val="1A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),  (</a:t>
            </a:r>
            <a:r>
              <a:rPr lang="pt-BR" sz="1200" b="1" noProof="0" dirty="0" err="1">
                <a:solidFill>
                  <a:srgbClr val="1A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</a:t>
            </a:r>
            <a:r>
              <a:rPr lang="pt-BR" sz="1200" b="1" noProof="0" dirty="0">
                <a:solidFill>
                  <a:srgbClr val="1A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 e  (r*)  também são ER</a:t>
            </a:r>
            <a:endParaRPr lang="pt-BR" sz="1200" noProof="0" dirty="0"/>
          </a:p>
        </p:txBody>
      </p:sp>
      <p:sp>
        <p:nvSpPr>
          <p:cNvPr id="19" name="Shape 17"/>
          <p:cNvSpPr/>
          <p:nvPr/>
        </p:nvSpPr>
        <p:spPr>
          <a:xfrm>
            <a:off x="4754880" y="1005840"/>
            <a:ext cx="402336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t-BR" noProof="0" dirty="0"/>
          </a:p>
        </p:txBody>
      </p:sp>
      <p:sp>
        <p:nvSpPr>
          <p:cNvPr id="20" name="Shape 18"/>
          <p:cNvSpPr/>
          <p:nvPr/>
        </p:nvSpPr>
        <p:spPr>
          <a:xfrm>
            <a:off x="4754880" y="1005840"/>
            <a:ext cx="4023360" cy="41148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21" name="Text 19"/>
          <p:cNvSpPr/>
          <p:nvPr/>
        </p:nvSpPr>
        <p:spPr>
          <a:xfrm>
            <a:off x="4846320" y="105156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Exemplos — L(r)</a:t>
            </a:r>
            <a:endParaRPr lang="pt-BR" sz="1400" noProof="0" dirty="0"/>
          </a:p>
        </p:txBody>
      </p:sp>
      <p:sp>
        <p:nvSpPr>
          <p:cNvPr id="22" name="Shape 20"/>
          <p:cNvSpPr/>
          <p:nvPr/>
        </p:nvSpPr>
        <p:spPr>
          <a:xfrm>
            <a:off x="4846320" y="1536192"/>
            <a:ext cx="3794760" cy="685800"/>
          </a:xfrm>
          <a:prstGeom prst="rect">
            <a:avLst/>
          </a:prstGeom>
          <a:solidFill>
            <a:srgbClr val="F0F5FA"/>
          </a:solidFill>
          <a:ln w="12700">
            <a:solidFill>
              <a:srgbClr val="F0F5FA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23" name="Text 21"/>
          <p:cNvSpPr/>
          <p:nvPr/>
        </p:nvSpPr>
        <p:spPr>
          <a:xfrm>
            <a:off x="4937760" y="158191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500" b="1" noProof="0" dirty="0">
                <a:solidFill>
                  <a:srgbClr val="1A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 = 0|1</a:t>
            </a:r>
            <a:endParaRPr lang="pt-BR" sz="1500" noProof="0" dirty="0"/>
          </a:p>
        </p:txBody>
      </p:sp>
      <p:sp>
        <p:nvSpPr>
          <p:cNvPr id="24" name="Text 22"/>
          <p:cNvSpPr/>
          <p:nvPr/>
        </p:nvSpPr>
        <p:spPr>
          <a:xfrm>
            <a:off x="4937760" y="188366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noProof="0" dirty="0">
                <a:solidFill>
                  <a:srgbClr val="0D7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L(r) = {0, 1}</a:t>
            </a:r>
            <a:endParaRPr lang="pt-BR" sz="1300" noProof="0" dirty="0"/>
          </a:p>
        </p:txBody>
      </p:sp>
      <p:sp>
        <p:nvSpPr>
          <p:cNvPr id="25" name="Shape 23"/>
          <p:cNvSpPr/>
          <p:nvPr/>
        </p:nvSpPr>
        <p:spPr>
          <a:xfrm>
            <a:off x="4846320" y="2313432"/>
            <a:ext cx="3794760" cy="685800"/>
          </a:xfrm>
          <a:prstGeom prst="rect">
            <a:avLst/>
          </a:prstGeom>
          <a:solidFill>
            <a:srgbClr val="F0F5FA"/>
          </a:solidFill>
          <a:ln w="12700">
            <a:solidFill>
              <a:srgbClr val="F0F5FA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26" name="Text 24"/>
          <p:cNvSpPr/>
          <p:nvPr/>
        </p:nvSpPr>
        <p:spPr>
          <a:xfrm>
            <a:off x="4937760" y="23591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500" b="1" noProof="0" dirty="0">
                <a:solidFill>
                  <a:srgbClr val="1A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 = 01</a:t>
            </a:r>
            <a:endParaRPr lang="pt-BR" sz="1500" noProof="0" dirty="0"/>
          </a:p>
        </p:txBody>
      </p:sp>
      <p:sp>
        <p:nvSpPr>
          <p:cNvPr id="27" name="Text 25"/>
          <p:cNvSpPr/>
          <p:nvPr/>
        </p:nvSpPr>
        <p:spPr>
          <a:xfrm>
            <a:off x="4937760" y="266090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noProof="0" dirty="0">
                <a:solidFill>
                  <a:srgbClr val="0D7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L(r) = {01}</a:t>
            </a:r>
            <a:endParaRPr lang="pt-BR" sz="1300" noProof="0" dirty="0"/>
          </a:p>
        </p:txBody>
      </p:sp>
      <p:sp>
        <p:nvSpPr>
          <p:cNvPr id="28" name="Shape 26"/>
          <p:cNvSpPr/>
          <p:nvPr/>
        </p:nvSpPr>
        <p:spPr>
          <a:xfrm>
            <a:off x="4846320" y="3090672"/>
            <a:ext cx="3794760" cy="685800"/>
          </a:xfrm>
          <a:prstGeom prst="rect">
            <a:avLst/>
          </a:prstGeom>
          <a:solidFill>
            <a:srgbClr val="F0F5FA"/>
          </a:solidFill>
          <a:ln w="12700">
            <a:solidFill>
              <a:srgbClr val="F0F5FA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29" name="Text 27"/>
          <p:cNvSpPr/>
          <p:nvPr/>
        </p:nvSpPr>
        <p:spPr>
          <a:xfrm>
            <a:off x="4937760" y="313639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500" b="1" noProof="0" dirty="0">
                <a:solidFill>
                  <a:srgbClr val="1A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 = 1*</a:t>
            </a:r>
            <a:endParaRPr lang="pt-BR" sz="1500" noProof="0" dirty="0"/>
          </a:p>
        </p:txBody>
      </p:sp>
      <p:sp>
        <p:nvSpPr>
          <p:cNvPr id="30" name="Text 28"/>
          <p:cNvSpPr/>
          <p:nvPr/>
        </p:nvSpPr>
        <p:spPr>
          <a:xfrm>
            <a:off x="4937760" y="343814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noProof="0" dirty="0">
                <a:solidFill>
                  <a:srgbClr val="0D7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L(r) = {</a:t>
            </a:r>
            <a:r>
              <a:rPr lang="pt-BR" sz="1300" noProof="0" dirty="0" err="1">
                <a:solidFill>
                  <a:srgbClr val="0D7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epsilon</a:t>
            </a:r>
            <a:r>
              <a:rPr lang="pt-BR" sz="1300" noProof="0" dirty="0">
                <a:solidFill>
                  <a:srgbClr val="0D7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1, 11, 111, ...}</a:t>
            </a:r>
            <a:endParaRPr lang="pt-BR" sz="1300" noProof="0" dirty="0"/>
          </a:p>
        </p:txBody>
      </p:sp>
      <p:sp>
        <p:nvSpPr>
          <p:cNvPr id="31" name="Shape 29"/>
          <p:cNvSpPr/>
          <p:nvPr/>
        </p:nvSpPr>
        <p:spPr>
          <a:xfrm>
            <a:off x="4846320" y="3867912"/>
            <a:ext cx="3794760" cy="685800"/>
          </a:xfrm>
          <a:prstGeom prst="rect">
            <a:avLst/>
          </a:prstGeom>
          <a:solidFill>
            <a:srgbClr val="F0F5FA"/>
          </a:solidFill>
          <a:ln w="12700">
            <a:solidFill>
              <a:srgbClr val="F0F5FA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32" name="Text 30"/>
          <p:cNvSpPr/>
          <p:nvPr/>
        </p:nvSpPr>
        <p:spPr>
          <a:xfrm>
            <a:off x="4937760" y="391363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500" b="1" noProof="0" dirty="0">
                <a:solidFill>
                  <a:srgbClr val="1A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 = (0|1)*</a:t>
            </a:r>
            <a:endParaRPr lang="pt-BR" sz="1500" noProof="0" dirty="0"/>
          </a:p>
        </p:txBody>
      </p:sp>
      <p:sp>
        <p:nvSpPr>
          <p:cNvPr id="33" name="Text 31"/>
          <p:cNvSpPr/>
          <p:nvPr/>
        </p:nvSpPr>
        <p:spPr>
          <a:xfrm>
            <a:off x="4937760" y="42153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noProof="0" dirty="0">
                <a:solidFill>
                  <a:srgbClr val="0D7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L(r) = todas as </a:t>
            </a:r>
            <a:r>
              <a:rPr lang="pt-BR" sz="1300" noProof="0" dirty="0" err="1">
                <a:solidFill>
                  <a:srgbClr val="0D7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strings</a:t>
            </a:r>
            <a:r>
              <a:rPr lang="pt-BR" sz="1300" noProof="0" dirty="0">
                <a:solidFill>
                  <a:srgbClr val="0D7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binarias</a:t>
            </a:r>
            <a:endParaRPr lang="pt-BR" sz="1300" noProof="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5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5C2D91"/>
          </a:solidFill>
          <a:ln w="12700">
            <a:solidFill>
              <a:srgbClr val="5C2D91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3" name="Text 1"/>
          <p:cNvSpPr/>
          <p:nvPr/>
        </p:nvSpPr>
        <p:spPr>
          <a:xfrm>
            <a:off x="457200" y="16459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8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Precedência dos Operadores</a:t>
            </a:r>
            <a:endParaRPr lang="pt-BR" sz="2800" noProof="0" dirty="0"/>
          </a:p>
        </p:txBody>
      </p:sp>
      <p:sp>
        <p:nvSpPr>
          <p:cNvPr id="4" name="Shape 2"/>
          <p:cNvSpPr/>
          <p:nvPr/>
        </p:nvSpPr>
        <p:spPr>
          <a:xfrm>
            <a:off x="365760" y="1005840"/>
            <a:ext cx="8412480" cy="1078992"/>
          </a:xfrm>
          <a:prstGeom prst="rect">
            <a:avLst/>
          </a:prstGeom>
          <a:solidFill>
            <a:srgbClr val="F3E5F5"/>
          </a:solidFill>
          <a:ln w="12700">
            <a:solidFill>
              <a:srgbClr val="F3E5F5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5" name="Shape 3"/>
          <p:cNvSpPr/>
          <p:nvPr/>
        </p:nvSpPr>
        <p:spPr>
          <a:xfrm>
            <a:off x="365760" y="1005840"/>
            <a:ext cx="594360" cy="1078992"/>
          </a:xfrm>
          <a:prstGeom prst="rect">
            <a:avLst/>
          </a:prstGeom>
          <a:solidFill>
            <a:srgbClr val="5C2D91"/>
          </a:solidFill>
          <a:ln w="12700">
            <a:solidFill>
              <a:srgbClr val="5C2D91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365760" y="1280160"/>
            <a:ext cx="594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6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1°</a:t>
            </a:r>
            <a:endParaRPr lang="pt-BR" sz="1600" noProof="0" dirty="0"/>
          </a:p>
        </p:txBody>
      </p:sp>
      <p:sp>
        <p:nvSpPr>
          <p:cNvPr id="7" name="Text 5"/>
          <p:cNvSpPr/>
          <p:nvPr/>
        </p:nvSpPr>
        <p:spPr>
          <a:xfrm>
            <a:off x="1051560" y="1115568"/>
            <a:ext cx="1005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2800" b="1" noProof="0" dirty="0">
                <a:solidFill>
                  <a:srgbClr val="5C2D9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</a:t>
            </a:r>
            <a:endParaRPr lang="pt-BR" sz="2800" noProof="0" dirty="0"/>
          </a:p>
        </p:txBody>
      </p:sp>
      <p:sp>
        <p:nvSpPr>
          <p:cNvPr id="8" name="Text 6"/>
          <p:cNvSpPr/>
          <p:nvPr/>
        </p:nvSpPr>
        <p:spPr>
          <a:xfrm>
            <a:off x="2148840" y="1115568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500" b="1" noProof="0" dirty="0">
                <a:solidFill>
                  <a:srgbClr val="1A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Estrela de </a:t>
            </a:r>
            <a:r>
              <a:rPr lang="pt-BR" sz="1500" b="1" noProof="0" dirty="0" err="1">
                <a:solidFill>
                  <a:srgbClr val="1A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Kleene</a:t>
            </a:r>
            <a:endParaRPr lang="pt-BR" sz="1500" noProof="0" dirty="0"/>
          </a:p>
        </p:txBody>
      </p:sp>
      <p:sp>
        <p:nvSpPr>
          <p:cNvPr id="9" name="Shape 7"/>
          <p:cNvSpPr/>
          <p:nvPr/>
        </p:nvSpPr>
        <p:spPr>
          <a:xfrm>
            <a:off x="2148840" y="1554480"/>
            <a:ext cx="914400" cy="292608"/>
          </a:xfrm>
          <a:prstGeom prst="rect">
            <a:avLst/>
          </a:prstGeom>
          <a:solidFill>
            <a:srgbClr val="5C2D91"/>
          </a:solidFill>
          <a:ln w="12700">
            <a:solidFill>
              <a:srgbClr val="5C2D91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0" name="Text 8"/>
          <p:cNvSpPr/>
          <p:nvPr/>
        </p:nvSpPr>
        <p:spPr>
          <a:xfrm>
            <a:off x="2148840" y="1563624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0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 FORTE</a:t>
            </a:r>
            <a:endParaRPr lang="pt-BR" sz="1000" noProof="0" dirty="0"/>
          </a:p>
        </p:txBody>
      </p:sp>
      <p:sp>
        <p:nvSpPr>
          <p:cNvPr id="11" name="Shape 9"/>
          <p:cNvSpPr/>
          <p:nvPr/>
        </p:nvSpPr>
        <p:spPr>
          <a:xfrm>
            <a:off x="365760" y="2240280"/>
            <a:ext cx="8412480" cy="1078992"/>
          </a:xfrm>
          <a:prstGeom prst="rect">
            <a:avLst/>
          </a:prstGeom>
          <a:solidFill>
            <a:srgbClr val="E8F4F8"/>
          </a:solidFill>
          <a:ln w="12700">
            <a:solidFill>
              <a:srgbClr val="E8F4F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2" name="Shape 10"/>
          <p:cNvSpPr/>
          <p:nvPr/>
        </p:nvSpPr>
        <p:spPr>
          <a:xfrm>
            <a:off x="365760" y="2240280"/>
            <a:ext cx="594360" cy="1078992"/>
          </a:xfrm>
          <a:prstGeom prst="rect">
            <a:avLst/>
          </a:prstGeom>
          <a:solidFill>
            <a:srgbClr val="0D7A8A"/>
          </a:solidFill>
          <a:ln w="12700">
            <a:solidFill>
              <a:srgbClr val="0D7A8A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3" name="Text 11"/>
          <p:cNvSpPr/>
          <p:nvPr/>
        </p:nvSpPr>
        <p:spPr>
          <a:xfrm>
            <a:off x="365760" y="2514600"/>
            <a:ext cx="594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6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2°</a:t>
            </a:r>
            <a:endParaRPr lang="pt-BR" sz="1600" noProof="0" dirty="0"/>
          </a:p>
        </p:txBody>
      </p:sp>
      <p:sp>
        <p:nvSpPr>
          <p:cNvPr id="14" name="Text 12"/>
          <p:cNvSpPr/>
          <p:nvPr/>
        </p:nvSpPr>
        <p:spPr>
          <a:xfrm>
            <a:off x="1051560" y="2350008"/>
            <a:ext cx="1005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2800" b="1" noProof="0" dirty="0">
                <a:solidFill>
                  <a:srgbClr val="0D7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AB</a:t>
            </a:r>
            <a:endParaRPr lang="pt-BR" sz="2800" noProof="0" dirty="0"/>
          </a:p>
        </p:txBody>
      </p:sp>
      <p:sp>
        <p:nvSpPr>
          <p:cNvPr id="15" name="Text 13"/>
          <p:cNvSpPr/>
          <p:nvPr/>
        </p:nvSpPr>
        <p:spPr>
          <a:xfrm>
            <a:off x="2148840" y="2350008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500" b="1" noProof="0" dirty="0">
                <a:solidFill>
                  <a:srgbClr val="1A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Concatenação (sequencia)</a:t>
            </a:r>
            <a:endParaRPr lang="pt-BR" sz="1500" noProof="0" dirty="0"/>
          </a:p>
        </p:txBody>
      </p:sp>
      <p:sp>
        <p:nvSpPr>
          <p:cNvPr id="16" name="Shape 14"/>
          <p:cNvSpPr/>
          <p:nvPr/>
        </p:nvSpPr>
        <p:spPr>
          <a:xfrm>
            <a:off x="2148840" y="2788920"/>
            <a:ext cx="914400" cy="292608"/>
          </a:xfrm>
          <a:prstGeom prst="rect">
            <a:avLst/>
          </a:prstGeom>
          <a:solidFill>
            <a:srgbClr val="0D7A8A"/>
          </a:solidFill>
          <a:ln w="12700">
            <a:solidFill>
              <a:srgbClr val="0D7A8A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7" name="Text 15"/>
          <p:cNvSpPr/>
          <p:nvPr/>
        </p:nvSpPr>
        <p:spPr>
          <a:xfrm>
            <a:off x="2148840" y="2798064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0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MEDIO</a:t>
            </a:r>
            <a:endParaRPr lang="pt-BR" sz="1000" noProof="0" dirty="0"/>
          </a:p>
        </p:txBody>
      </p:sp>
      <p:sp>
        <p:nvSpPr>
          <p:cNvPr id="18" name="Shape 16"/>
          <p:cNvSpPr/>
          <p:nvPr/>
        </p:nvSpPr>
        <p:spPr>
          <a:xfrm>
            <a:off x="365760" y="3474720"/>
            <a:ext cx="8412480" cy="1078992"/>
          </a:xfrm>
          <a:prstGeom prst="rect">
            <a:avLst/>
          </a:prstGeom>
          <a:solidFill>
            <a:srgbClr val="E3EBF5"/>
          </a:solidFill>
          <a:ln w="12700">
            <a:solidFill>
              <a:srgbClr val="E3EBF5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9" name="Shape 17"/>
          <p:cNvSpPr/>
          <p:nvPr/>
        </p:nvSpPr>
        <p:spPr>
          <a:xfrm>
            <a:off x="365760" y="3474720"/>
            <a:ext cx="594360" cy="1078992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20" name="Text 18"/>
          <p:cNvSpPr/>
          <p:nvPr/>
        </p:nvSpPr>
        <p:spPr>
          <a:xfrm>
            <a:off x="365760" y="3749040"/>
            <a:ext cx="594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6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3°</a:t>
            </a:r>
            <a:endParaRPr lang="pt-BR" sz="1600" noProof="0" dirty="0"/>
          </a:p>
        </p:txBody>
      </p:sp>
      <p:sp>
        <p:nvSpPr>
          <p:cNvPr id="21" name="Text 19"/>
          <p:cNvSpPr/>
          <p:nvPr/>
        </p:nvSpPr>
        <p:spPr>
          <a:xfrm>
            <a:off x="1051560" y="3584448"/>
            <a:ext cx="1005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2800" b="1" noProof="0" dirty="0">
                <a:solidFill>
                  <a:srgbClr val="1A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</a:t>
            </a:r>
            <a:endParaRPr lang="pt-BR" sz="2800" noProof="0" dirty="0"/>
          </a:p>
        </p:txBody>
      </p:sp>
      <p:sp>
        <p:nvSpPr>
          <p:cNvPr id="22" name="Text 20"/>
          <p:cNvSpPr/>
          <p:nvPr/>
        </p:nvSpPr>
        <p:spPr>
          <a:xfrm>
            <a:off x="2148840" y="3584448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500" b="1" noProof="0" dirty="0">
                <a:solidFill>
                  <a:srgbClr val="1A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Uniao (OU)</a:t>
            </a:r>
            <a:endParaRPr lang="pt-BR" sz="1500" noProof="0" dirty="0"/>
          </a:p>
        </p:txBody>
      </p:sp>
      <p:sp>
        <p:nvSpPr>
          <p:cNvPr id="23" name="Shape 21"/>
          <p:cNvSpPr/>
          <p:nvPr/>
        </p:nvSpPr>
        <p:spPr>
          <a:xfrm>
            <a:off x="2148840" y="4023360"/>
            <a:ext cx="914400" cy="292608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24" name="Text 22"/>
          <p:cNvSpPr/>
          <p:nvPr/>
        </p:nvSpPr>
        <p:spPr>
          <a:xfrm>
            <a:off x="2148840" y="4032504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0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 FRACO</a:t>
            </a:r>
            <a:endParaRPr lang="pt-BR" sz="1000" noProof="0" dirty="0"/>
          </a:p>
        </p:txBody>
      </p:sp>
      <p:grpSp>
        <p:nvGrpSpPr>
          <p:cNvPr id="31" name="Agrupar 30">
            <a:extLst>
              <a:ext uri="{FF2B5EF4-FFF2-40B4-BE49-F238E27FC236}">
                <a16:creationId xmlns:a16="http://schemas.microsoft.com/office/drawing/2014/main" id="{0F8D4E90-36F0-E36B-3985-9861B496D0EB}"/>
              </a:ext>
            </a:extLst>
          </p:cNvPr>
          <p:cNvGrpSpPr/>
          <p:nvPr/>
        </p:nvGrpSpPr>
        <p:grpSpPr>
          <a:xfrm>
            <a:off x="4673990" y="1980028"/>
            <a:ext cx="4104250" cy="1565910"/>
            <a:chOff x="4719710" y="1005840"/>
            <a:chExt cx="4104250" cy="1565910"/>
          </a:xfrm>
        </p:grpSpPr>
        <p:sp>
          <p:nvSpPr>
            <p:cNvPr id="25" name="Shape 23"/>
            <p:cNvSpPr/>
            <p:nvPr/>
          </p:nvSpPr>
          <p:spPr>
            <a:xfrm>
              <a:off x="4719710" y="1005840"/>
              <a:ext cx="4104250" cy="1565910"/>
            </a:xfrm>
            <a:prstGeom prst="rect">
              <a:avLst/>
            </a:prstGeom>
            <a:solidFill>
              <a:srgbClr val="FFF8E1"/>
            </a:solidFill>
            <a:ln w="12700">
              <a:solidFill>
                <a:srgbClr val="F5A623"/>
              </a:solidFill>
              <a:prstDash val="solid"/>
            </a:ln>
          </p:spPr>
          <p:txBody>
            <a:bodyPr/>
            <a:lstStyle/>
            <a:p>
              <a:endParaRPr lang="pt-BR" noProof="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4832252" y="1069848"/>
              <a:ext cx="228600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1400" b="1" noProof="0" dirty="0">
                  <a:solidFill>
                    <a:srgbClr val="7D520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Exemplo Critico:</a:t>
              </a:r>
              <a:endParaRPr lang="pt-BR" sz="1400" noProof="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4846320" y="1481328"/>
              <a:ext cx="527538" cy="3474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1800" b="1" noProof="0" dirty="0">
                  <a:solidFill>
                    <a:srgbClr val="5C2D91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01*</a:t>
              </a:r>
              <a:endParaRPr lang="pt-BR" sz="1800" noProof="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5271868" y="1481328"/>
              <a:ext cx="3506372" cy="3474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1400" noProof="0" dirty="0">
                  <a:solidFill>
                    <a:srgbClr val="1A253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= 0 seguido de vários 1  -&gt;  {0, 01, 011, 0111, ...}</a:t>
              </a:r>
              <a:endParaRPr lang="pt-BR" sz="1400" noProof="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4800600" y="1999019"/>
              <a:ext cx="1188720" cy="3474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1800" b="1" noProof="0" dirty="0">
                  <a:solidFill>
                    <a:srgbClr val="0D7A8A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(01)*</a:t>
              </a:r>
              <a:endParaRPr lang="pt-BR" sz="1800" noProof="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5543549" y="1980028"/>
              <a:ext cx="3149405" cy="3474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1400" noProof="0" dirty="0">
                  <a:solidFill>
                    <a:srgbClr val="1A253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= repetição do bloco 01  -&gt;  {e, 01, 0101, ...}</a:t>
              </a:r>
              <a:endParaRPr lang="pt-BR" sz="1400" noProof="0" dirty="0"/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5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3" name="Text 1"/>
          <p:cNvSpPr/>
          <p:nvPr/>
        </p:nvSpPr>
        <p:spPr>
          <a:xfrm>
            <a:off x="457200" y="16459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5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Construindo </a:t>
            </a:r>
            <a:r>
              <a:rPr lang="pt-BR" sz="2500" b="1" noProof="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ERs</a:t>
            </a:r>
            <a:r>
              <a:rPr lang="pt-BR" sz="25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partir de Enunciados</a:t>
            </a:r>
            <a:endParaRPr lang="pt-BR" sz="2500" noProof="0" dirty="0"/>
          </a:p>
        </p:txBody>
      </p:sp>
      <p:sp>
        <p:nvSpPr>
          <p:cNvPr id="4" name="Shape 2"/>
          <p:cNvSpPr/>
          <p:nvPr/>
        </p:nvSpPr>
        <p:spPr>
          <a:xfrm>
            <a:off x="365760" y="1005840"/>
            <a:ext cx="8412480" cy="502920"/>
          </a:xfrm>
          <a:prstGeom prst="rect">
            <a:avLst/>
          </a:prstGeom>
          <a:solidFill>
            <a:srgbClr val="E8F4F8"/>
          </a:solidFill>
          <a:ln w="12700">
            <a:solidFill>
              <a:srgbClr val="0D7A8A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b="1" noProof="0" dirty="0">
                <a:solidFill>
                  <a:srgbClr val="0D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Sigma = {0,1}  -&gt;  use (0|1) para representar qualquer símbolo do alfabeto</a:t>
            </a:r>
            <a:endParaRPr lang="pt-BR" sz="1300" noProof="0" dirty="0"/>
          </a:p>
        </p:txBody>
      </p:sp>
      <p:sp>
        <p:nvSpPr>
          <p:cNvPr id="6" name="Shape 4"/>
          <p:cNvSpPr/>
          <p:nvPr/>
        </p:nvSpPr>
        <p:spPr>
          <a:xfrm>
            <a:off x="365760" y="1627632"/>
            <a:ext cx="8412480" cy="9875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t-BR" noProof="0" dirty="0"/>
          </a:p>
        </p:txBody>
      </p:sp>
      <p:sp>
        <p:nvSpPr>
          <p:cNvPr id="7" name="Shape 5"/>
          <p:cNvSpPr/>
          <p:nvPr/>
        </p:nvSpPr>
        <p:spPr>
          <a:xfrm>
            <a:off x="365760" y="1627632"/>
            <a:ext cx="109728" cy="987552"/>
          </a:xfrm>
          <a:prstGeom prst="rect">
            <a:avLst/>
          </a:prstGeom>
          <a:solidFill>
            <a:srgbClr val="0D7A8A"/>
          </a:solidFill>
          <a:ln w="12700">
            <a:solidFill>
              <a:srgbClr val="0D7A8A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8" name="Text 6"/>
          <p:cNvSpPr/>
          <p:nvPr/>
        </p:nvSpPr>
        <p:spPr>
          <a:xfrm>
            <a:off x="594360" y="1700784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00" b="1" noProof="0" dirty="0">
                <a:solidFill>
                  <a:srgbClr val="1A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 com 1</a:t>
            </a:r>
            <a:endParaRPr lang="pt-BR" sz="1400" noProof="0" dirty="0"/>
          </a:p>
        </p:txBody>
      </p:sp>
      <p:sp>
        <p:nvSpPr>
          <p:cNvPr id="9" name="Shape 7"/>
          <p:cNvSpPr/>
          <p:nvPr/>
        </p:nvSpPr>
        <p:spPr>
          <a:xfrm>
            <a:off x="2971800" y="1673352"/>
            <a:ext cx="3017520" cy="384048"/>
          </a:xfrm>
          <a:prstGeom prst="rect">
            <a:avLst/>
          </a:prstGeom>
          <a:solidFill>
            <a:srgbClr val="F0F5FA"/>
          </a:solidFill>
          <a:ln w="12700">
            <a:solidFill>
              <a:srgbClr val="F0F5FA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0" name="Text 8"/>
          <p:cNvSpPr/>
          <p:nvPr/>
        </p:nvSpPr>
        <p:spPr>
          <a:xfrm>
            <a:off x="3017520" y="1709928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600" b="1" noProof="0" dirty="0">
                <a:solidFill>
                  <a:srgbClr val="0D7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ER: (0|1)*1</a:t>
            </a:r>
            <a:endParaRPr lang="pt-BR" sz="1600" noProof="0" dirty="0"/>
          </a:p>
        </p:txBody>
      </p:sp>
      <p:sp>
        <p:nvSpPr>
          <p:cNvPr id="11" name="Shape 9"/>
          <p:cNvSpPr/>
          <p:nvPr/>
        </p:nvSpPr>
        <p:spPr>
          <a:xfrm>
            <a:off x="594360" y="2139696"/>
            <a:ext cx="1170432" cy="256032"/>
          </a:xfrm>
          <a:prstGeom prst="rect">
            <a:avLst/>
          </a:prstGeom>
          <a:solidFill>
            <a:srgbClr val="E8F5E9"/>
          </a:solidFill>
          <a:ln w="12700">
            <a:solidFill>
              <a:srgbClr val="66BB6A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2" name="Text 10"/>
          <p:cNvSpPr/>
          <p:nvPr/>
        </p:nvSpPr>
        <p:spPr>
          <a:xfrm>
            <a:off x="612648" y="2157984"/>
            <a:ext cx="1143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b="1" noProof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Aceita:</a:t>
            </a:r>
            <a:endParaRPr lang="pt-BR" sz="1100" noProof="0" dirty="0"/>
          </a:p>
        </p:txBody>
      </p:sp>
      <p:sp>
        <p:nvSpPr>
          <p:cNvPr id="13" name="Text 11"/>
          <p:cNvSpPr/>
          <p:nvPr/>
        </p:nvSpPr>
        <p:spPr>
          <a:xfrm>
            <a:off x="1828800" y="2157984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noProof="0" dirty="0">
                <a:solidFill>
                  <a:srgbClr val="2E7D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1, 01, 101, 0001</a:t>
            </a:r>
            <a:endParaRPr lang="pt-BR" sz="1300" noProof="0" dirty="0"/>
          </a:p>
        </p:txBody>
      </p:sp>
      <p:sp>
        <p:nvSpPr>
          <p:cNvPr id="14" name="Shape 12"/>
          <p:cNvSpPr/>
          <p:nvPr/>
        </p:nvSpPr>
        <p:spPr>
          <a:xfrm>
            <a:off x="5212080" y="2139696"/>
            <a:ext cx="1261872" cy="256032"/>
          </a:xfrm>
          <a:prstGeom prst="rect">
            <a:avLst/>
          </a:prstGeom>
          <a:solidFill>
            <a:srgbClr val="FEECEC"/>
          </a:solidFill>
          <a:ln w="12700">
            <a:solidFill>
              <a:srgbClr val="EF9A9A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5" name="Text 13"/>
          <p:cNvSpPr/>
          <p:nvPr/>
        </p:nvSpPr>
        <p:spPr>
          <a:xfrm>
            <a:off x="5230368" y="2157984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b="1" noProof="0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Rejeita:</a:t>
            </a:r>
            <a:endParaRPr lang="pt-BR" sz="1100" noProof="0" dirty="0"/>
          </a:p>
        </p:txBody>
      </p:sp>
      <p:sp>
        <p:nvSpPr>
          <p:cNvPr id="16" name="Text 14"/>
          <p:cNvSpPr/>
          <p:nvPr/>
        </p:nvSpPr>
        <p:spPr>
          <a:xfrm>
            <a:off x="6537960" y="2157984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noProof="0" dirty="0">
                <a:solidFill>
                  <a:srgbClr val="C628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0, 10, </a:t>
            </a:r>
            <a:r>
              <a:rPr lang="pt-BR" sz="1300" noProof="0" dirty="0" err="1">
                <a:solidFill>
                  <a:srgbClr val="C628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epsilon</a:t>
            </a:r>
            <a:endParaRPr lang="pt-BR" sz="1300" noProof="0" dirty="0"/>
          </a:p>
        </p:txBody>
      </p:sp>
      <p:sp>
        <p:nvSpPr>
          <p:cNvPr id="17" name="Shape 15"/>
          <p:cNvSpPr/>
          <p:nvPr/>
        </p:nvSpPr>
        <p:spPr>
          <a:xfrm>
            <a:off x="365760" y="2743200"/>
            <a:ext cx="8412480" cy="9875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t-BR" noProof="0" dirty="0"/>
          </a:p>
        </p:txBody>
      </p:sp>
      <p:sp>
        <p:nvSpPr>
          <p:cNvPr id="18" name="Shape 16"/>
          <p:cNvSpPr/>
          <p:nvPr/>
        </p:nvSpPr>
        <p:spPr>
          <a:xfrm>
            <a:off x="365760" y="2743200"/>
            <a:ext cx="109728" cy="987552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9" name="Text 17"/>
          <p:cNvSpPr/>
          <p:nvPr/>
        </p:nvSpPr>
        <p:spPr>
          <a:xfrm>
            <a:off x="594360" y="2816352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00" b="1" noProof="0" dirty="0" err="1">
                <a:solidFill>
                  <a:srgbClr val="1A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Comeca</a:t>
            </a:r>
            <a:r>
              <a:rPr lang="pt-BR" sz="1400" b="1" noProof="0" dirty="0">
                <a:solidFill>
                  <a:srgbClr val="1A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com 1</a:t>
            </a:r>
            <a:endParaRPr lang="pt-BR" sz="1400" noProof="0" dirty="0"/>
          </a:p>
        </p:txBody>
      </p:sp>
      <p:sp>
        <p:nvSpPr>
          <p:cNvPr id="20" name="Shape 18"/>
          <p:cNvSpPr/>
          <p:nvPr/>
        </p:nvSpPr>
        <p:spPr>
          <a:xfrm>
            <a:off x="2971800" y="2788920"/>
            <a:ext cx="3017520" cy="384048"/>
          </a:xfrm>
          <a:prstGeom prst="rect">
            <a:avLst/>
          </a:prstGeom>
          <a:solidFill>
            <a:srgbClr val="F0F5FA"/>
          </a:solidFill>
          <a:ln w="12700">
            <a:solidFill>
              <a:srgbClr val="F0F5FA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21" name="Text 19"/>
          <p:cNvSpPr/>
          <p:nvPr/>
        </p:nvSpPr>
        <p:spPr>
          <a:xfrm>
            <a:off x="3017520" y="2825496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600" b="1" noProof="0" dirty="0">
                <a:solidFill>
                  <a:srgbClr val="1A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ER: 1(0|1)*</a:t>
            </a:r>
            <a:endParaRPr lang="pt-BR" sz="1600" noProof="0" dirty="0"/>
          </a:p>
        </p:txBody>
      </p:sp>
      <p:sp>
        <p:nvSpPr>
          <p:cNvPr id="22" name="Shape 20"/>
          <p:cNvSpPr/>
          <p:nvPr/>
        </p:nvSpPr>
        <p:spPr>
          <a:xfrm>
            <a:off x="594360" y="3255264"/>
            <a:ext cx="1170432" cy="256032"/>
          </a:xfrm>
          <a:prstGeom prst="rect">
            <a:avLst/>
          </a:prstGeom>
          <a:solidFill>
            <a:srgbClr val="E8F5E9"/>
          </a:solidFill>
          <a:ln w="12700">
            <a:solidFill>
              <a:srgbClr val="66BB6A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23" name="Text 21"/>
          <p:cNvSpPr/>
          <p:nvPr/>
        </p:nvSpPr>
        <p:spPr>
          <a:xfrm>
            <a:off x="612648" y="3273552"/>
            <a:ext cx="1143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b="1" noProof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Aceita:</a:t>
            </a:r>
            <a:endParaRPr lang="pt-BR" sz="1100" noProof="0" dirty="0"/>
          </a:p>
        </p:txBody>
      </p:sp>
      <p:sp>
        <p:nvSpPr>
          <p:cNvPr id="24" name="Text 22"/>
          <p:cNvSpPr/>
          <p:nvPr/>
        </p:nvSpPr>
        <p:spPr>
          <a:xfrm>
            <a:off x="1828800" y="3273552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noProof="0" dirty="0">
                <a:solidFill>
                  <a:srgbClr val="2E7D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1, 10, 101, 1110</a:t>
            </a:r>
            <a:endParaRPr lang="pt-BR" sz="1300" noProof="0" dirty="0"/>
          </a:p>
        </p:txBody>
      </p:sp>
      <p:sp>
        <p:nvSpPr>
          <p:cNvPr id="25" name="Shape 23"/>
          <p:cNvSpPr/>
          <p:nvPr/>
        </p:nvSpPr>
        <p:spPr>
          <a:xfrm>
            <a:off x="5212080" y="3255264"/>
            <a:ext cx="1261872" cy="256032"/>
          </a:xfrm>
          <a:prstGeom prst="rect">
            <a:avLst/>
          </a:prstGeom>
          <a:solidFill>
            <a:srgbClr val="FEECEC"/>
          </a:solidFill>
          <a:ln w="12700">
            <a:solidFill>
              <a:srgbClr val="EF9A9A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26" name="Text 24"/>
          <p:cNvSpPr/>
          <p:nvPr/>
        </p:nvSpPr>
        <p:spPr>
          <a:xfrm>
            <a:off x="5230368" y="3273552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b="1" noProof="0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Rejeita:</a:t>
            </a:r>
            <a:endParaRPr lang="pt-BR" sz="1100" noProof="0" dirty="0"/>
          </a:p>
        </p:txBody>
      </p:sp>
      <p:sp>
        <p:nvSpPr>
          <p:cNvPr id="27" name="Text 25"/>
          <p:cNvSpPr/>
          <p:nvPr/>
        </p:nvSpPr>
        <p:spPr>
          <a:xfrm>
            <a:off x="6537960" y="3273552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noProof="0" dirty="0">
                <a:solidFill>
                  <a:srgbClr val="C628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0, 011, </a:t>
            </a:r>
            <a:r>
              <a:rPr lang="pt-BR" sz="1300" noProof="0" dirty="0" err="1">
                <a:solidFill>
                  <a:srgbClr val="C628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epsilon</a:t>
            </a:r>
            <a:endParaRPr lang="pt-BR" sz="1300" noProof="0" dirty="0"/>
          </a:p>
        </p:txBody>
      </p:sp>
      <p:sp>
        <p:nvSpPr>
          <p:cNvPr id="28" name="Shape 26"/>
          <p:cNvSpPr/>
          <p:nvPr/>
        </p:nvSpPr>
        <p:spPr>
          <a:xfrm>
            <a:off x="365760" y="3858768"/>
            <a:ext cx="8412480" cy="9875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t-BR" noProof="0" dirty="0"/>
          </a:p>
        </p:txBody>
      </p:sp>
      <p:sp>
        <p:nvSpPr>
          <p:cNvPr id="29" name="Shape 27"/>
          <p:cNvSpPr/>
          <p:nvPr/>
        </p:nvSpPr>
        <p:spPr>
          <a:xfrm>
            <a:off x="365760" y="3858768"/>
            <a:ext cx="109728" cy="987552"/>
          </a:xfrm>
          <a:prstGeom prst="rect">
            <a:avLst/>
          </a:prstGeom>
          <a:solidFill>
            <a:srgbClr val="5C2D91"/>
          </a:solidFill>
          <a:ln w="12700">
            <a:solidFill>
              <a:srgbClr val="5C2D91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30" name="Text 28"/>
          <p:cNvSpPr/>
          <p:nvPr/>
        </p:nvSpPr>
        <p:spPr>
          <a:xfrm>
            <a:off x="594360" y="393192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00" b="1" noProof="0" dirty="0">
                <a:solidFill>
                  <a:srgbClr val="1A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Contem 101</a:t>
            </a:r>
            <a:endParaRPr lang="pt-BR" sz="1400" noProof="0" dirty="0"/>
          </a:p>
        </p:txBody>
      </p:sp>
      <p:sp>
        <p:nvSpPr>
          <p:cNvPr id="31" name="Shape 29"/>
          <p:cNvSpPr/>
          <p:nvPr/>
        </p:nvSpPr>
        <p:spPr>
          <a:xfrm>
            <a:off x="2971800" y="3904488"/>
            <a:ext cx="3017520" cy="384048"/>
          </a:xfrm>
          <a:prstGeom prst="rect">
            <a:avLst/>
          </a:prstGeom>
          <a:solidFill>
            <a:srgbClr val="F0F5FA"/>
          </a:solidFill>
          <a:ln w="12700">
            <a:solidFill>
              <a:srgbClr val="F0F5FA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32" name="Text 30"/>
          <p:cNvSpPr/>
          <p:nvPr/>
        </p:nvSpPr>
        <p:spPr>
          <a:xfrm>
            <a:off x="3017520" y="3941064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600" b="1" noProof="0" dirty="0">
                <a:solidFill>
                  <a:srgbClr val="5C2D9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ER: (0|1)*101(0|1)*</a:t>
            </a:r>
            <a:endParaRPr lang="pt-BR" sz="1600" noProof="0" dirty="0"/>
          </a:p>
        </p:txBody>
      </p:sp>
      <p:sp>
        <p:nvSpPr>
          <p:cNvPr id="33" name="Shape 31"/>
          <p:cNvSpPr/>
          <p:nvPr/>
        </p:nvSpPr>
        <p:spPr>
          <a:xfrm>
            <a:off x="594360" y="4370832"/>
            <a:ext cx="1170432" cy="256032"/>
          </a:xfrm>
          <a:prstGeom prst="rect">
            <a:avLst/>
          </a:prstGeom>
          <a:solidFill>
            <a:srgbClr val="E8F5E9"/>
          </a:solidFill>
          <a:ln w="12700">
            <a:solidFill>
              <a:srgbClr val="66BB6A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34" name="Text 32"/>
          <p:cNvSpPr/>
          <p:nvPr/>
        </p:nvSpPr>
        <p:spPr>
          <a:xfrm>
            <a:off x="612648" y="4389120"/>
            <a:ext cx="1143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b="1" noProof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Aceita:</a:t>
            </a:r>
            <a:endParaRPr lang="pt-BR" sz="1100" noProof="0" dirty="0"/>
          </a:p>
        </p:txBody>
      </p:sp>
      <p:sp>
        <p:nvSpPr>
          <p:cNvPr id="35" name="Text 33"/>
          <p:cNvSpPr/>
          <p:nvPr/>
        </p:nvSpPr>
        <p:spPr>
          <a:xfrm>
            <a:off x="1828800" y="4389120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noProof="0" dirty="0">
                <a:solidFill>
                  <a:srgbClr val="2E7D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101, 11010, 0101</a:t>
            </a:r>
            <a:endParaRPr lang="pt-BR" sz="1300" noProof="0" dirty="0"/>
          </a:p>
        </p:txBody>
      </p:sp>
      <p:sp>
        <p:nvSpPr>
          <p:cNvPr id="36" name="Shape 34"/>
          <p:cNvSpPr/>
          <p:nvPr/>
        </p:nvSpPr>
        <p:spPr>
          <a:xfrm>
            <a:off x="5212080" y="4370832"/>
            <a:ext cx="1261872" cy="256032"/>
          </a:xfrm>
          <a:prstGeom prst="rect">
            <a:avLst/>
          </a:prstGeom>
          <a:solidFill>
            <a:srgbClr val="FEECEC"/>
          </a:solidFill>
          <a:ln w="12700">
            <a:solidFill>
              <a:srgbClr val="EF9A9A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37" name="Text 35"/>
          <p:cNvSpPr/>
          <p:nvPr/>
        </p:nvSpPr>
        <p:spPr>
          <a:xfrm>
            <a:off x="5230368" y="4389120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b="1" noProof="0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Rejeita:</a:t>
            </a:r>
            <a:endParaRPr lang="pt-BR" sz="1100" noProof="0" dirty="0"/>
          </a:p>
        </p:txBody>
      </p:sp>
      <p:sp>
        <p:nvSpPr>
          <p:cNvPr id="38" name="Text 36"/>
          <p:cNvSpPr/>
          <p:nvPr/>
        </p:nvSpPr>
        <p:spPr>
          <a:xfrm>
            <a:off x="6537960" y="4389120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noProof="0" dirty="0">
                <a:solidFill>
                  <a:srgbClr val="C628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100, 011, </a:t>
            </a:r>
            <a:r>
              <a:rPr lang="pt-BR" sz="1300" noProof="0" dirty="0" err="1">
                <a:solidFill>
                  <a:srgbClr val="C628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epsilon</a:t>
            </a:r>
            <a:endParaRPr lang="pt-BR" sz="1300" noProof="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5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B71C1C"/>
          </a:solidFill>
          <a:ln w="12700">
            <a:solidFill>
              <a:srgbClr val="B71C1C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3" name="Text 1"/>
          <p:cNvSpPr/>
          <p:nvPr/>
        </p:nvSpPr>
        <p:spPr>
          <a:xfrm>
            <a:off x="457200" y="16459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6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Erros Comuns — Fique Atento!</a:t>
            </a:r>
            <a:endParaRPr lang="pt-BR" sz="2600" noProof="0" dirty="0"/>
          </a:p>
        </p:txBody>
      </p:sp>
      <p:sp>
        <p:nvSpPr>
          <p:cNvPr id="4" name="Shape 2"/>
          <p:cNvSpPr/>
          <p:nvPr/>
        </p:nvSpPr>
        <p:spPr>
          <a:xfrm>
            <a:off x="365760" y="1005840"/>
            <a:ext cx="841248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t-BR" noProof="0" dirty="0"/>
          </a:p>
        </p:txBody>
      </p:sp>
      <p:sp>
        <p:nvSpPr>
          <p:cNvPr id="5" name="Shape 3"/>
          <p:cNvSpPr/>
          <p:nvPr/>
        </p:nvSpPr>
        <p:spPr>
          <a:xfrm>
            <a:off x="365760" y="1005840"/>
            <a:ext cx="384048" cy="713232"/>
          </a:xfrm>
          <a:prstGeom prst="rect">
            <a:avLst/>
          </a:prstGeom>
          <a:solidFill>
            <a:srgbClr val="B71C1C"/>
          </a:solidFill>
          <a:ln w="12700">
            <a:solidFill>
              <a:srgbClr val="B71C1C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365760" y="11704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8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</a:t>
            </a:r>
            <a:endParaRPr lang="pt-BR" sz="1800" noProof="0" dirty="0"/>
          </a:p>
        </p:txBody>
      </p:sp>
      <p:sp>
        <p:nvSpPr>
          <p:cNvPr id="7" name="Text 5"/>
          <p:cNvSpPr/>
          <p:nvPr/>
        </p:nvSpPr>
        <p:spPr>
          <a:xfrm>
            <a:off x="841248" y="106070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500" b="1" noProof="0" dirty="0" err="1">
                <a:solidFill>
                  <a:srgbClr val="1A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epsilon</a:t>
            </a:r>
            <a:r>
              <a:rPr lang="pt-BR" sz="1500" b="1" noProof="0" dirty="0">
                <a:solidFill>
                  <a:srgbClr val="1A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não e símbolo do alfabeto</a:t>
            </a:r>
            <a:endParaRPr lang="pt-BR" sz="1500" noProof="0" dirty="0"/>
          </a:p>
        </p:txBody>
      </p:sp>
      <p:sp>
        <p:nvSpPr>
          <p:cNvPr id="8" name="Text 6"/>
          <p:cNvSpPr/>
          <p:nvPr/>
        </p:nvSpPr>
        <p:spPr>
          <a:xfrm>
            <a:off x="841248" y="13716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noProof="0" dirty="0" err="1">
                <a:solidFill>
                  <a:srgbClr val="4A62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epsilon</a:t>
            </a:r>
            <a:r>
              <a:rPr lang="pt-BR" sz="1300" noProof="0" dirty="0">
                <a:solidFill>
                  <a:srgbClr val="4A62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uma </a:t>
            </a:r>
            <a:r>
              <a:rPr lang="pt-BR" sz="1300" noProof="0" dirty="0" err="1">
                <a:solidFill>
                  <a:srgbClr val="4A62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string</a:t>
            </a:r>
            <a:r>
              <a:rPr lang="pt-BR" sz="1300" noProof="0" dirty="0">
                <a:solidFill>
                  <a:srgbClr val="4A62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vazia — ela pertence a Sigma*, mas normalmente não a Sigma</a:t>
            </a:r>
            <a:endParaRPr lang="pt-BR" sz="1300" noProof="0" dirty="0"/>
          </a:p>
        </p:txBody>
      </p:sp>
      <p:sp>
        <p:nvSpPr>
          <p:cNvPr id="9" name="Shape 7"/>
          <p:cNvSpPr/>
          <p:nvPr/>
        </p:nvSpPr>
        <p:spPr>
          <a:xfrm>
            <a:off x="365760" y="1810512"/>
            <a:ext cx="841248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t-BR" noProof="0" dirty="0"/>
          </a:p>
        </p:txBody>
      </p:sp>
      <p:sp>
        <p:nvSpPr>
          <p:cNvPr id="10" name="Shape 8"/>
          <p:cNvSpPr/>
          <p:nvPr/>
        </p:nvSpPr>
        <p:spPr>
          <a:xfrm>
            <a:off x="365760" y="1810512"/>
            <a:ext cx="384048" cy="713232"/>
          </a:xfrm>
          <a:prstGeom prst="rect">
            <a:avLst/>
          </a:prstGeom>
          <a:solidFill>
            <a:srgbClr val="B71C1C"/>
          </a:solidFill>
          <a:ln w="12700">
            <a:solidFill>
              <a:srgbClr val="B71C1C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1" name="Text 9"/>
          <p:cNvSpPr/>
          <p:nvPr/>
        </p:nvSpPr>
        <p:spPr>
          <a:xfrm>
            <a:off x="365760" y="19751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8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</a:t>
            </a:r>
            <a:endParaRPr lang="pt-BR" sz="1800" noProof="0" dirty="0"/>
          </a:p>
        </p:txBody>
      </p:sp>
      <p:sp>
        <p:nvSpPr>
          <p:cNvPr id="12" name="Text 10"/>
          <p:cNvSpPr/>
          <p:nvPr/>
        </p:nvSpPr>
        <p:spPr>
          <a:xfrm>
            <a:off x="841248" y="1865376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500" b="1" noProof="0" dirty="0" err="1">
                <a:solidFill>
                  <a:srgbClr val="1A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empty</a:t>
            </a:r>
            <a:r>
              <a:rPr lang="pt-BR" sz="1500" b="1" noProof="0" dirty="0">
                <a:solidFill>
                  <a:srgbClr val="1A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-set != </a:t>
            </a:r>
            <a:r>
              <a:rPr lang="pt-BR" sz="1500" b="1" noProof="0" dirty="0" err="1">
                <a:solidFill>
                  <a:srgbClr val="1A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epsilon</a:t>
            </a:r>
            <a:endParaRPr lang="pt-BR" sz="1500" noProof="0" dirty="0"/>
          </a:p>
        </p:txBody>
      </p:sp>
      <p:sp>
        <p:nvSpPr>
          <p:cNvPr id="13" name="Text 11"/>
          <p:cNvSpPr/>
          <p:nvPr/>
        </p:nvSpPr>
        <p:spPr>
          <a:xfrm>
            <a:off x="841248" y="217627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noProof="0" dirty="0" err="1">
                <a:solidFill>
                  <a:srgbClr val="4A62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empty</a:t>
            </a:r>
            <a:r>
              <a:rPr lang="pt-BR" sz="1300" noProof="0" dirty="0">
                <a:solidFill>
                  <a:srgbClr val="4A62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-set </a:t>
            </a:r>
            <a:r>
              <a:rPr lang="pt-BR" sz="1300" noProof="0" dirty="0" err="1">
                <a:solidFill>
                  <a:srgbClr val="4A62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nao</a:t>
            </a:r>
            <a:r>
              <a:rPr lang="pt-BR" sz="1300" noProof="0" dirty="0">
                <a:solidFill>
                  <a:srgbClr val="4A62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aceita nenhuma </a:t>
            </a:r>
            <a:r>
              <a:rPr lang="pt-BR" sz="1300" noProof="0" dirty="0" err="1">
                <a:solidFill>
                  <a:srgbClr val="4A62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string</a:t>
            </a:r>
            <a:r>
              <a:rPr lang="pt-BR" sz="1300" noProof="0" dirty="0">
                <a:solidFill>
                  <a:srgbClr val="4A62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 </a:t>
            </a:r>
            <a:r>
              <a:rPr lang="pt-BR" sz="1300" noProof="0" dirty="0" err="1">
                <a:solidFill>
                  <a:srgbClr val="4A62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epsilon</a:t>
            </a:r>
            <a:r>
              <a:rPr lang="pt-BR" sz="1300" noProof="0" dirty="0">
                <a:solidFill>
                  <a:srgbClr val="4A62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aceita exatamente a </a:t>
            </a:r>
            <a:r>
              <a:rPr lang="pt-BR" sz="1300" noProof="0" dirty="0" err="1">
                <a:solidFill>
                  <a:srgbClr val="4A62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string</a:t>
            </a:r>
            <a:r>
              <a:rPr lang="pt-BR" sz="1300" noProof="0" dirty="0">
                <a:solidFill>
                  <a:srgbClr val="4A62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vazia</a:t>
            </a:r>
            <a:endParaRPr lang="pt-BR" sz="1300" noProof="0" dirty="0"/>
          </a:p>
        </p:txBody>
      </p:sp>
      <p:sp>
        <p:nvSpPr>
          <p:cNvPr id="14" name="Shape 12"/>
          <p:cNvSpPr/>
          <p:nvPr/>
        </p:nvSpPr>
        <p:spPr>
          <a:xfrm>
            <a:off x="365760" y="2615184"/>
            <a:ext cx="841248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t-BR" noProof="0" dirty="0"/>
          </a:p>
        </p:txBody>
      </p:sp>
      <p:sp>
        <p:nvSpPr>
          <p:cNvPr id="15" name="Shape 13"/>
          <p:cNvSpPr/>
          <p:nvPr/>
        </p:nvSpPr>
        <p:spPr>
          <a:xfrm>
            <a:off x="365760" y="2615184"/>
            <a:ext cx="384048" cy="713232"/>
          </a:xfrm>
          <a:prstGeom prst="rect">
            <a:avLst/>
          </a:prstGeom>
          <a:solidFill>
            <a:srgbClr val="B71C1C"/>
          </a:solidFill>
          <a:ln w="12700">
            <a:solidFill>
              <a:srgbClr val="B71C1C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6" name="Text 14"/>
          <p:cNvSpPr/>
          <p:nvPr/>
        </p:nvSpPr>
        <p:spPr>
          <a:xfrm>
            <a:off x="365760" y="27797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8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</a:t>
            </a:r>
            <a:endParaRPr lang="pt-BR" sz="1800" noProof="0" dirty="0"/>
          </a:p>
        </p:txBody>
      </p:sp>
      <p:sp>
        <p:nvSpPr>
          <p:cNvPr id="17" name="Text 15"/>
          <p:cNvSpPr/>
          <p:nvPr/>
        </p:nvSpPr>
        <p:spPr>
          <a:xfrm>
            <a:off x="841248" y="267004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500" b="1" noProof="0" dirty="0">
                <a:solidFill>
                  <a:srgbClr val="1A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Concatenação não é comutativa</a:t>
            </a:r>
            <a:endParaRPr lang="pt-BR" sz="1500" noProof="0" dirty="0"/>
          </a:p>
        </p:txBody>
      </p:sp>
      <p:sp>
        <p:nvSpPr>
          <p:cNvPr id="18" name="Text 16"/>
          <p:cNvSpPr/>
          <p:nvPr/>
        </p:nvSpPr>
        <p:spPr>
          <a:xfrm>
            <a:off x="841248" y="298094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noProof="0" dirty="0">
                <a:solidFill>
                  <a:srgbClr val="4A62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</a:t>
            </a:r>
            <a:r>
              <a:rPr lang="pt-BR" sz="1300" noProof="0" dirty="0" err="1">
                <a:solidFill>
                  <a:srgbClr val="4A62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</a:t>
            </a:r>
            <a:r>
              <a:rPr lang="pt-BR" sz="1300" noProof="0" dirty="0">
                <a:solidFill>
                  <a:srgbClr val="4A62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 != "</a:t>
            </a:r>
            <a:r>
              <a:rPr lang="pt-BR" sz="1300" noProof="0" dirty="0" err="1">
                <a:solidFill>
                  <a:srgbClr val="4A62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</a:t>
            </a:r>
            <a:r>
              <a:rPr lang="pt-BR" sz="1300" noProof="0" dirty="0">
                <a:solidFill>
                  <a:srgbClr val="4A62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 — em geral L1L2 != L2L1</a:t>
            </a:r>
            <a:endParaRPr lang="pt-BR" sz="1300" noProof="0" dirty="0"/>
          </a:p>
        </p:txBody>
      </p:sp>
      <p:sp>
        <p:nvSpPr>
          <p:cNvPr id="19" name="Shape 17"/>
          <p:cNvSpPr/>
          <p:nvPr/>
        </p:nvSpPr>
        <p:spPr>
          <a:xfrm>
            <a:off x="365760" y="3419856"/>
            <a:ext cx="841248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t-BR" noProof="0" dirty="0"/>
          </a:p>
        </p:txBody>
      </p:sp>
      <p:sp>
        <p:nvSpPr>
          <p:cNvPr id="20" name="Shape 18"/>
          <p:cNvSpPr/>
          <p:nvPr/>
        </p:nvSpPr>
        <p:spPr>
          <a:xfrm>
            <a:off x="365760" y="3419856"/>
            <a:ext cx="384048" cy="713232"/>
          </a:xfrm>
          <a:prstGeom prst="rect">
            <a:avLst/>
          </a:prstGeom>
          <a:solidFill>
            <a:srgbClr val="B71C1C"/>
          </a:solidFill>
          <a:ln w="12700">
            <a:solidFill>
              <a:srgbClr val="B71C1C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21" name="Text 19"/>
          <p:cNvSpPr/>
          <p:nvPr/>
        </p:nvSpPr>
        <p:spPr>
          <a:xfrm>
            <a:off x="365760" y="3584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8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</a:t>
            </a:r>
            <a:endParaRPr lang="pt-BR" sz="1800" noProof="0" dirty="0"/>
          </a:p>
        </p:txBody>
      </p:sp>
      <p:sp>
        <p:nvSpPr>
          <p:cNvPr id="22" name="Text 20"/>
          <p:cNvSpPr/>
          <p:nvPr/>
        </p:nvSpPr>
        <p:spPr>
          <a:xfrm>
            <a:off x="841248" y="34747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500" b="1" noProof="0" dirty="0">
                <a:solidFill>
                  <a:srgbClr val="1A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01* != (01)*</a:t>
            </a:r>
            <a:endParaRPr lang="pt-BR" sz="1500" noProof="0" dirty="0"/>
          </a:p>
        </p:txBody>
      </p:sp>
      <p:sp>
        <p:nvSpPr>
          <p:cNvPr id="23" name="Text 21"/>
          <p:cNvSpPr/>
          <p:nvPr/>
        </p:nvSpPr>
        <p:spPr>
          <a:xfrm>
            <a:off x="841248" y="3785616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noProof="0" dirty="0">
                <a:solidFill>
                  <a:srgbClr val="4A62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01* = 0 seguido de vários 1;   (01)* = repetições do bloco 01</a:t>
            </a:r>
            <a:endParaRPr lang="pt-BR" sz="1300" noProof="0" dirty="0"/>
          </a:p>
        </p:txBody>
      </p:sp>
      <p:sp>
        <p:nvSpPr>
          <p:cNvPr id="24" name="Shape 22"/>
          <p:cNvSpPr/>
          <p:nvPr/>
        </p:nvSpPr>
        <p:spPr>
          <a:xfrm>
            <a:off x="365760" y="4224528"/>
            <a:ext cx="841248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t-BR" noProof="0" dirty="0"/>
          </a:p>
        </p:txBody>
      </p:sp>
      <p:sp>
        <p:nvSpPr>
          <p:cNvPr id="25" name="Shape 23"/>
          <p:cNvSpPr/>
          <p:nvPr/>
        </p:nvSpPr>
        <p:spPr>
          <a:xfrm>
            <a:off x="365760" y="4224528"/>
            <a:ext cx="384048" cy="713232"/>
          </a:xfrm>
          <a:prstGeom prst="rect">
            <a:avLst/>
          </a:prstGeom>
          <a:solidFill>
            <a:srgbClr val="B71C1C"/>
          </a:solidFill>
          <a:ln w="12700">
            <a:solidFill>
              <a:srgbClr val="B71C1C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26" name="Text 24"/>
          <p:cNvSpPr/>
          <p:nvPr/>
        </p:nvSpPr>
        <p:spPr>
          <a:xfrm>
            <a:off x="365760" y="4389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8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</a:t>
            </a:r>
            <a:endParaRPr lang="pt-BR" sz="1800" noProof="0" dirty="0"/>
          </a:p>
        </p:txBody>
      </p:sp>
      <p:sp>
        <p:nvSpPr>
          <p:cNvPr id="27" name="Text 25"/>
          <p:cNvSpPr/>
          <p:nvPr/>
        </p:nvSpPr>
        <p:spPr>
          <a:xfrm>
            <a:off x="841248" y="427939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500" b="1" noProof="0" dirty="0">
                <a:solidFill>
                  <a:srgbClr val="1A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 não conta com memoria infinita</a:t>
            </a:r>
            <a:endParaRPr lang="pt-BR" sz="1500" noProof="0" dirty="0"/>
          </a:p>
        </p:txBody>
      </p:sp>
      <p:sp>
        <p:nvSpPr>
          <p:cNvPr id="28" name="Text 26"/>
          <p:cNvSpPr/>
          <p:nvPr/>
        </p:nvSpPr>
        <p:spPr>
          <a:xfrm>
            <a:off x="841248" y="459028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noProof="0" dirty="0">
                <a:solidFill>
                  <a:srgbClr val="4A62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da para impor a quantidade igual (como </a:t>
            </a:r>
            <a:r>
              <a:rPr lang="pt-BR" sz="1300" noProof="0" dirty="0" err="1">
                <a:solidFill>
                  <a:srgbClr val="4A62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a^n</a:t>
            </a:r>
            <a:r>
              <a:rPr lang="pt-BR" sz="1300" noProof="0" dirty="0">
                <a:solidFill>
                  <a:srgbClr val="4A62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pt-BR" sz="1300" noProof="0" dirty="0" err="1">
                <a:solidFill>
                  <a:srgbClr val="4A62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b^n</a:t>
            </a:r>
            <a:r>
              <a:rPr lang="pt-BR" sz="1300" noProof="0" dirty="0">
                <a:solidFill>
                  <a:srgbClr val="4A62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apenas com ER</a:t>
            </a:r>
            <a:endParaRPr lang="pt-BR" sz="1300" noProof="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5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7A8A"/>
          </a:solidFill>
          <a:ln w="12700">
            <a:solidFill>
              <a:srgbClr val="0D7A8A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3" name="Text 1"/>
          <p:cNvSpPr/>
          <p:nvPr/>
        </p:nvSpPr>
        <p:spPr>
          <a:xfrm>
            <a:off x="457200" y="16459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6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Gabarito — Exercícios Selecionados</a:t>
            </a:r>
            <a:endParaRPr lang="pt-BR" sz="2600" noProof="0" dirty="0"/>
          </a:p>
        </p:txBody>
      </p:sp>
      <p:sp>
        <p:nvSpPr>
          <p:cNvPr id="4" name="Shape 2"/>
          <p:cNvSpPr/>
          <p:nvPr/>
        </p:nvSpPr>
        <p:spPr>
          <a:xfrm>
            <a:off x="365760" y="1024128"/>
            <a:ext cx="40233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t-BR" noProof="0" dirty="0"/>
          </a:p>
        </p:txBody>
      </p:sp>
      <p:sp>
        <p:nvSpPr>
          <p:cNvPr id="5" name="Text 3"/>
          <p:cNvSpPr/>
          <p:nvPr/>
        </p:nvSpPr>
        <p:spPr>
          <a:xfrm>
            <a:off x="475488" y="107899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noProof="0" dirty="0">
                <a:solidFill>
                  <a:srgbClr val="4A62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 para todas as </a:t>
            </a:r>
            <a:r>
              <a:rPr lang="pt-BR" sz="1200" noProof="0" dirty="0" err="1">
                <a:solidFill>
                  <a:srgbClr val="4A62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strings</a:t>
            </a:r>
            <a:r>
              <a:rPr lang="pt-BR" sz="1200" noProof="0" dirty="0">
                <a:solidFill>
                  <a:srgbClr val="4A62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binarias</a:t>
            </a:r>
            <a:endParaRPr lang="pt-BR" sz="1200" noProof="0" dirty="0"/>
          </a:p>
        </p:txBody>
      </p:sp>
      <p:sp>
        <p:nvSpPr>
          <p:cNvPr id="6" name="Text 4"/>
          <p:cNvSpPr/>
          <p:nvPr/>
        </p:nvSpPr>
        <p:spPr>
          <a:xfrm>
            <a:off x="475488" y="1408176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600" b="1" noProof="0" dirty="0">
                <a:solidFill>
                  <a:srgbClr val="0D7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ER: (0|1)*</a:t>
            </a:r>
            <a:endParaRPr lang="pt-BR" sz="1600" noProof="0" dirty="0"/>
          </a:p>
        </p:txBody>
      </p:sp>
      <p:sp>
        <p:nvSpPr>
          <p:cNvPr id="7" name="Shape 5"/>
          <p:cNvSpPr/>
          <p:nvPr/>
        </p:nvSpPr>
        <p:spPr>
          <a:xfrm>
            <a:off x="365760" y="1984248"/>
            <a:ext cx="40233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t-BR" noProof="0" dirty="0"/>
          </a:p>
        </p:txBody>
      </p:sp>
      <p:sp>
        <p:nvSpPr>
          <p:cNvPr id="8" name="Text 6"/>
          <p:cNvSpPr/>
          <p:nvPr/>
        </p:nvSpPr>
        <p:spPr>
          <a:xfrm>
            <a:off x="475488" y="203911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noProof="0" dirty="0">
                <a:solidFill>
                  <a:srgbClr val="4A62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 para termina com 0</a:t>
            </a:r>
            <a:endParaRPr lang="pt-BR" sz="1200" noProof="0" dirty="0"/>
          </a:p>
        </p:txBody>
      </p:sp>
      <p:sp>
        <p:nvSpPr>
          <p:cNvPr id="9" name="Text 7"/>
          <p:cNvSpPr/>
          <p:nvPr/>
        </p:nvSpPr>
        <p:spPr>
          <a:xfrm>
            <a:off x="475488" y="2368296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600" b="1" noProof="0" dirty="0">
                <a:solidFill>
                  <a:srgbClr val="0D7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ER: (0|1)*0</a:t>
            </a:r>
            <a:endParaRPr lang="pt-BR" sz="1600" noProof="0" dirty="0"/>
          </a:p>
        </p:txBody>
      </p:sp>
      <p:sp>
        <p:nvSpPr>
          <p:cNvPr id="10" name="Shape 8"/>
          <p:cNvSpPr/>
          <p:nvPr/>
        </p:nvSpPr>
        <p:spPr>
          <a:xfrm>
            <a:off x="365760" y="2944368"/>
            <a:ext cx="40233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t-BR" noProof="0" dirty="0"/>
          </a:p>
        </p:txBody>
      </p:sp>
      <p:sp>
        <p:nvSpPr>
          <p:cNvPr id="11" name="Text 9"/>
          <p:cNvSpPr/>
          <p:nvPr/>
        </p:nvSpPr>
        <p:spPr>
          <a:xfrm>
            <a:off x="475488" y="299923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noProof="0" dirty="0">
                <a:solidFill>
                  <a:srgbClr val="4A62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 para começa com 1</a:t>
            </a:r>
            <a:endParaRPr lang="pt-BR" sz="1200" noProof="0" dirty="0"/>
          </a:p>
        </p:txBody>
      </p:sp>
      <p:sp>
        <p:nvSpPr>
          <p:cNvPr id="12" name="Text 10"/>
          <p:cNvSpPr/>
          <p:nvPr/>
        </p:nvSpPr>
        <p:spPr>
          <a:xfrm>
            <a:off x="475488" y="3328416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600" b="1" noProof="0" dirty="0">
                <a:solidFill>
                  <a:srgbClr val="0D7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ER: 1(0|1)*</a:t>
            </a:r>
            <a:endParaRPr lang="pt-BR" sz="1600" noProof="0" dirty="0"/>
          </a:p>
        </p:txBody>
      </p:sp>
      <p:sp>
        <p:nvSpPr>
          <p:cNvPr id="13" name="Shape 11"/>
          <p:cNvSpPr/>
          <p:nvPr/>
        </p:nvSpPr>
        <p:spPr>
          <a:xfrm>
            <a:off x="365760" y="3904488"/>
            <a:ext cx="40233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t-BR" noProof="0" dirty="0"/>
          </a:p>
        </p:txBody>
      </p:sp>
      <p:sp>
        <p:nvSpPr>
          <p:cNvPr id="14" name="Text 12"/>
          <p:cNvSpPr/>
          <p:nvPr/>
        </p:nvSpPr>
        <p:spPr>
          <a:xfrm>
            <a:off x="475488" y="395935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noProof="0" dirty="0">
                <a:solidFill>
                  <a:srgbClr val="4A62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 para contem 11</a:t>
            </a:r>
            <a:endParaRPr lang="pt-BR" sz="1200" noProof="0" dirty="0"/>
          </a:p>
        </p:txBody>
      </p:sp>
      <p:sp>
        <p:nvSpPr>
          <p:cNvPr id="15" name="Text 13"/>
          <p:cNvSpPr/>
          <p:nvPr/>
        </p:nvSpPr>
        <p:spPr>
          <a:xfrm>
            <a:off x="475488" y="4288536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600" b="1" noProof="0" dirty="0">
                <a:solidFill>
                  <a:srgbClr val="0D7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ER: (0|1)*11(0|1)*</a:t>
            </a:r>
            <a:endParaRPr lang="pt-BR" sz="1600" noProof="0" dirty="0"/>
          </a:p>
        </p:txBody>
      </p:sp>
      <p:sp>
        <p:nvSpPr>
          <p:cNvPr id="16" name="Shape 14"/>
          <p:cNvSpPr/>
          <p:nvPr/>
        </p:nvSpPr>
        <p:spPr>
          <a:xfrm>
            <a:off x="4754880" y="1024128"/>
            <a:ext cx="40233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t-BR" noProof="0" dirty="0"/>
          </a:p>
        </p:txBody>
      </p:sp>
      <p:sp>
        <p:nvSpPr>
          <p:cNvPr id="17" name="Text 15"/>
          <p:cNvSpPr/>
          <p:nvPr/>
        </p:nvSpPr>
        <p:spPr>
          <a:xfrm>
            <a:off x="4864608" y="107899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noProof="0" dirty="0">
                <a:solidFill>
                  <a:srgbClr val="4A62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 para tem exatamente um 1  (Sigma={0,1})</a:t>
            </a:r>
            <a:endParaRPr lang="pt-BR" sz="1200" noProof="0" dirty="0"/>
          </a:p>
        </p:txBody>
      </p:sp>
      <p:sp>
        <p:nvSpPr>
          <p:cNvPr id="18" name="Text 16"/>
          <p:cNvSpPr/>
          <p:nvPr/>
        </p:nvSpPr>
        <p:spPr>
          <a:xfrm>
            <a:off x="4864608" y="1408176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600" b="1" noProof="0" dirty="0">
                <a:solidFill>
                  <a:srgbClr val="0D7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ER: 0*10*</a:t>
            </a:r>
            <a:endParaRPr lang="pt-BR" sz="1600" noProof="0" dirty="0"/>
          </a:p>
        </p:txBody>
      </p:sp>
      <p:sp>
        <p:nvSpPr>
          <p:cNvPr id="19" name="Shape 17"/>
          <p:cNvSpPr/>
          <p:nvPr/>
        </p:nvSpPr>
        <p:spPr>
          <a:xfrm>
            <a:off x="4754880" y="1984248"/>
            <a:ext cx="40233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t-BR" noProof="0" dirty="0"/>
          </a:p>
        </p:txBody>
      </p:sp>
      <p:sp>
        <p:nvSpPr>
          <p:cNvPr id="20" name="Text 18"/>
          <p:cNvSpPr/>
          <p:nvPr/>
        </p:nvSpPr>
        <p:spPr>
          <a:xfrm>
            <a:off x="4864608" y="203911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noProof="0" dirty="0">
                <a:solidFill>
                  <a:srgbClr val="4A62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 para </a:t>
            </a:r>
            <a:r>
              <a:rPr lang="pt-BR" sz="1200" noProof="0" dirty="0" err="1">
                <a:solidFill>
                  <a:srgbClr val="4A62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strings</a:t>
            </a:r>
            <a:r>
              <a:rPr lang="pt-BR" sz="1200" noProof="0" dirty="0">
                <a:solidFill>
                  <a:srgbClr val="4A62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só com a  (Sigma={</a:t>
            </a:r>
            <a:r>
              <a:rPr lang="pt-BR" sz="1200" noProof="0" dirty="0" err="1">
                <a:solidFill>
                  <a:srgbClr val="4A62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a,b</a:t>
            </a:r>
            <a:r>
              <a:rPr lang="pt-BR" sz="1200" noProof="0" dirty="0">
                <a:solidFill>
                  <a:srgbClr val="4A62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})</a:t>
            </a:r>
            <a:endParaRPr lang="pt-BR" sz="1200" noProof="0" dirty="0"/>
          </a:p>
        </p:txBody>
      </p:sp>
      <p:sp>
        <p:nvSpPr>
          <p:cNvPr id="21" name="Text 19"/>
          <p:cNvSpPr/>
          <p:nvPr/>
        </p:nvSpPr>
        <p:spPr>
          <a:xfrm>
            <a:off x="4864608" y="2368296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600" b="1" noProof="0" dirty="0">
                <a:solidFill>
                  <a:srgbClr val="0D7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ER: a*</a:t>
            </a:r>
            <a:endParaRPr lang="pt-BR" sz="1600" noProof="0" dirty="0"/>
          </a:p>
        </p:txBody>
      </p:sp>
      <p:sp>
        <p:nvSpPr>
          <p:cNvPr id="22" name="Shape 20"/>
          <p:cNvSpPr/>
          <p:nvPr/>
        </p:nvSpPr>
        <p:spPr>
          <a:xfrm>
            <a:off x="4754880" y="2944368"/>
            <a:ext cx="40233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t-BR" noProof="0" dirty="0"/>
          </a:p>
        </p:txBody>
      </p:sp>
      <p:sp>
        <p:nvSpPr>
          <p:cNvPr id="23" name="Text 21"/>
          <p:cNvSpPr/>
          <p:nvPr/>
        </p:nvSpPr>
        <p:spPr>
          <a:xfrm>
            <a:off x="4864608" y="299923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noProof="0" dirty="0">
                <a:solidFill>
                  <a:srgbClr val="4A62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 para termina em </a:t>
            </a:r>
            <a:r>
              <a:rPr lang="pt-BR" sz="1200" noProof="0" dirty="0" err="1">
                <a:solidFill>
                  <a:srgbClr val="4A62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bb</a:t>
            </a:r>
            <a:r>
              <a:rPr lang="pt-BR" sz="1200" noProof="0" dirty="0">
                <a:solidFill>
                  <a:srgbClr val="4A62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(Sigma={</a:t>
            </a:r>
            <a:r>
              <a:rPr lang="pt-BR" sz="1200" noProof="0" dirty="0" err="1">
                <a:solidFill>
                  <a:srgbClr val="4A62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a,b</a:t>
            </a:r>
            <a:r>
              <a:rPr lang="pt-BR" sz="1200" noProof="0" dirty="0">
                <a:solidFill>
                  <a:srgbClr val="4A62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})</a:t>
            </a:r>
            <a:endParaRPr lang="pt-BR" sz="1200" noProof="0" dirty="0"/>
          </a:p>
        </p:txBody>
      </p:sp>
      <p:sp>
        <p:nvSpPr>
          <p:cNvPr id="24" name="Text 22"/>
          <p:cNvSpPr/>
          <p:nvPr/>
        </p:nvSpPr>
        <p:spPr>
          <a:xfrm>
            <a:off x="4864608" y="3328416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600" b="1" noProof="0" dirty="0">
                <a:solidFill>
                  <a:srgbClr val="0D7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ER: (</a:t>
            </a:r>
            <a:r>
              <a:rPr lang="pt-BR" sz="1600" b="1" noProof="0" dirty="0" err="1">
                <a:solidFill>
                  <a:srgbClr val="0D7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a|b</a:t>
            </a:r>
            <a:r>
              <a:rPr lang="pt-BR" sz="1600" b="1" noProof="0" dirty="0">
                <a:solidFill>
                  <a:srgbClr val="0D7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)*</a:t>
            </a:r>
            <a:r>
              <a:rPr lang="pt-BR" sz="1600" b="1" noProof="0" dirty="0" err="1">
                <a:solidFill>
                  <a:srgbClr val="0D7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bb</a:t>
            </a:r>
            <a:endParaRPr lang="pt-BR" sz="1600" noProof="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3A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3" name="Shape 1"/>
          <p:cNvSpPr/>
          <p:nvPr/>
        </p:nvSpPr>
        <p:spPr>
          <a:xfrm>
            <a:off x="0" y="5038344"/>
            <a:ext cx="9144000" cy="109728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noProof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Resumo — Aula 2</a:t>
            </a:r>
            <a:endParaRPr lang="pt-BR" sz="3000" noProof="0" dirty="0"/>
          </a:p>
        </p:txBody>
      </p:sp>
      <p:sp>
        <p:nvSpPr>
          <p:cNvPr id="5" name="Shape 3"/>
          <p:cNvSpPr/>
          <p:nvPr/>
        </p:nvSpPr>
        <p:spPr>
          <a:xfrm>
            <a:off x="365760" y="1234440"/>
            <a:ext cx="4023360" cy="1005840"/>
          </a:xfrm>
          <a:prstGeom prst="rect">
            <a:avLst/>
          </a:prstGeom>
          <a:solidFill>
            <a:srgbClr val="122840"/>
          </a:solidFill>
          <a:ln w="12700">
            <a:solidFill>
              <a:srgbClr val="12284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t-BR" noProof="0" dirty="0"/>
          </a:p>
        </p:txBody>
      </p:sp>
      <p:sp>
        <p:nvSpPr>
          <p:cNvPr id="6" name="Shape 4"/>
          <p:cNvSpPr/>
          <p:nvPr/>
        </p:nvSpPr>
        <p:spPr>
          <a:xfrm>
            <a:off x="365760" y="1234440"/>
            <a:ext cx="822960" cy="1005840"/>
          </a:xfrm>
          <a:prstGeom prst="rect">
            <a:avLst/>
          </a:prstGeom>
          <a:solidFill>
            <a:srgbClr val="0D7A8A"/>
          </a:solidFill>
          <a:ln w="12700">
            <a:solidFill>
              <a:srgbClr val="0D7A8A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7" name="Text 5"/>
          <p:cNvSpPr/>
          <p:nvPr/>
        </p:nvSpPr>
        <p:spPr>
          <a:xfrm>
            <a:off x="365760" y="1417320"/>
            <a:ext cx="822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600" b="1" noProof="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ER</a:t>
            </a:r>
            <a:endParaRPr lang="pt-BR" sz="1600" noProof="0" dirty="0"/>
          </a:p>
        </p:txBody>
      </p:sp>
      <p:sp>
        <p:nvSpPr>
          <p:cNvPr id="8" name="Text 6"/>
          <p:cNvSpPr/>
          <p:nvPr/>
        </p:nvSpPr>
        <p:spPr>
          <a:xfrm>
            <a:off x="1280160" y="1325880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5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Expressão Regular</a:t>
            </a:r>
            <a:endParaRPr lang="pt-BR" sz="1500" noProof="0" dirty="0"/>
          </a:p>
        </p:txBody>
      </p:sp>
      <p:sp>
        <p:nvSpPr>
          <p:cNvPr id="9" name="Text 7"/>
          <p:cNvSpPr/>
          <p:nvPr/>
        </p:nvSpPr>
        <p:spPr>
          <a:xfrm>
            <a:off x="1280160" y="170992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noProof="0" dirty="0">
                <a:solidFill>
                  <a:srgbClr val="A8C5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Receita compacta para linguagens</a:t>
            </a:r>
            <a:endParaRPr lang="pt-BR" sz="1200" noProof="0" dirty="0"/>
          </a:p>
        </p:txBody>
      </p:sp>
      <p:sp>
        <p:nvSpPr>
          <p:cNvPr id="10" name="Shape 8"/>
          <p:cNvSpPr/>
          <p:nvPr/>
        </p:nvSpPr>
        <p:spPr>
          <a:xfrm>
            <a:off x="365760" y="2404872"/>
            <a:ext cx="4023360" cy="1005840"/>
          </a:xfrm>
          <a:prstGeom prst="rect">
            <a:avLst/>
          </a:prstGeom>
          <a:solidFill>
            <a:srgbClr val="122840"/>
          </a:solidFill>
          <a:ln w="12700">
            <a:solidFill>
              <a:srgbClr val="12284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t-BR" noProof="0" dirty="0"/>
          </a:p>
        </p:txBody>
      </p:sp>
      <p:sp>
        <p:nvSpPr>
          <p:cNvPr id="11" name="Shape 9"/>
          <p:cNvSpPr/>
          <p:nvPr/>
        </p:nvSpPr>
        <p:spPr>
          <a:xfrm>
            <a:off x="365760" y="2404872"/>
            <a:ext cx="822960" cy="100584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2" name="Text 10"/>
          <p:cNvSpPr/>
          <p:nvPr/>
        </p:nvSpPr>
        <p:spPr>
          <a:xfrm>
            <a:off x="365760" y="2587752"/>
            <a:ext cx="822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600" b="1" noProof="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L(r)</a:t>
            </a:r>
            <a:endParaRPr lang="pt-BR" sz="1600" noProof="0" dirty="0"/>
          </a:p>
        </p:txBody>
      </p:sp>
      <p:sp>
        <p:nvSpPr>
          <p:cNvPr id="13" name="Text 11"/>
          <p:cNvSpPr/>
          <p:nvPr/>
        </p:nvSpPr>
        <p:spPr>
          <a:xfrm>
            <a:off x="1280160" y="2496312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5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Linguagem de ER</a:t>
            </a:r>
            <a:endParaRPr lang="pt-BR" sz="1500" noProof="0" dirty="0"/>
          </a:p>
        </p:txBody>
      </p:sp>
      <p:sp>
        <p:nvSpPr>
          <p:cNvPr id="14" name="Text 12"/>
          <p:cNvSpPr/>
          <p:nvPr/>
        </p:nvSpPr>
        <p:spPr>
          <a:xfrm>
            <a:off x="1280160" y="28803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noProof="0" dirty="0">
                <a:solidFill>
                  <a:srgbClr val="A8C5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Conjunto de </a:t>
            </a:r>
            <a:r>
              <a:rPr lang="pt-BR" sz="1200" noProof="0" dirty="0" err="1">
                <a:solidFill>
                  <a:srgbClr val="A8C5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strings</a:t>
            </a:r>
            <a:r>
              <a:rPr lang="pt-BR" sz="1200" noProof="0" dirty="0">
                <a:solidFill>
                  <a:srgbClr val="A8C5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descrito pela ER</a:t>
            </a:r>
            <a:endParaRPr lang="pt-BR" sz="1200" noProof="0" dirty="0"/>
          </a:p>
        </p:txBody>
      </p:sp>
      <p:sp>
        <p:nvSpPr>
          <p:cNvPr id="15" name="Shape 13"/>
          <p:cNvSpPr/>
          <p:nvPr/>
        </p:nvSpPr>
        <p:spPr>
          <a:xfrm>
            <a:off x="365760" y="3575304"/>
            <a:ext cx="4023360" cy="1005840"/>
          </a:xfrm>
          <a:prstGeom prst="rect">
            <a:avLst/>
          </a:prstGeom>
          <a:solidFill>
            <a:srgbClr val="122840"/>
          </a:solidFill>
          <a:ln w="12700">
            <a:solidFill>
              <a:srgbClr val="12284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t-BR" noProof="0" dirty="0"/>
          </a:p>
        </p:txBody>
      </p:sp>
      <p:sp>
        <p:nvSpPr>
          <p:cNvPr id="16" name="Shape 14"/>
          <p:cNvSpPr/>
          <p:nvPr/>
        </p:nvSpPr>
        <p:spPr>
          <a:xfrm>
            <a:off x="365760" y="3575304"/>
            <a:ext cx="822960" cy="1005840"/>
          </a:xfrm>
          <a:prstGeom prst="rect">
            <a:avLst/>
          </a:prstGeom>
          <a:solidFill>
            <a:srgbClr val="5C2D91"/>
          </a:solidFill>
          <a:ln w="12700">
            <a:solidFill>
              <a:srgbClr val="5C2D91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7" name="Text 15"/>
          <p:cNvSpPr/>
          <p:nvPr/>
        </p:nvSpPr>
        <p:spPr>
          <a:xfrm>
            <a:off x="365760" y="3758184"/>
            <a:ext cx="822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600" b="1" noProof="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</a:t>
            </a:r>
            <a:endParaRPr lang="pt-BR" sz="1600" noProof="0" dirty="0"/>
          </a:p>
        </p:txBody>
      </p:sp>
      <p:sp>
        <p:nvSpPr>
          <p:cNvPr id="18" name="Text 16"/>
          <p:cNvSpPr/>
          <p:nvPr/>
        </p:nvSpPr>
        <p:spPr>
          <a:xfrm>
            <a:off x="1280160" y="3666744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500" b="1" noProof="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Kleene</a:t>
            </a:r>
            <a:endParaRPr lang="pt-BR" sz="1500" noProof="0" dirty="0"/>
          </a:p>
        </p:txBody>
      </p:sp>
      <p:sp>
        <p:nvSpPr>
          <p:cNvPr id="19" name="Text 17"/>
          <p:cNvSpPr/>
          <p:nvPr/>
        </p:nvSpPr>
        <p:spPr>
          <a:xfrm>
            <a:off x="1280160" y="4050792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noProof="0" dirty="0">
                <a:solidFill>
                  <a:srgbClr val="A8C5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ou mais repetições; sempre inclui </a:t>
            </a:r>
            <a:r>
              <a:rPr lang="pt-BR" sz="1200" noProof="0" dirty="0" err="1">
                <a:solidFill>
                  <a:srgbClr val="A8C5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epsilon</a:t>
            </a:r>
            <a:endParaRPr lang="pt-BR" sz="1200" noProof="0" dirty="0"/>
          </a:p>
        </p:txBody>
      </p:sp>
      <p:sp>
        <p:nvSpPr>
          <p:cNvPr id="20" name="Shape 18"/>
          <p:cNvSpPr/>
          <p:nvPr/>
        </p:nvSpPr>
        <p:spPr>
          <a:xfrm>
            <a:off x="4754880" y="1234440"/>
            <a:ext cx="4023360" cy="1005840"/>
          </a:xfrm>
          <a:prstGeom prst="rect">
            <a:avLst/>
          </a:prstGeom>
          <a:solidFill>
            <a:srgbClr val="122840"/>
          </a:solidFill>
          <a:ln w="12700">
            <a:solidFill>
              <a:srgbClr val="12284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t-BR" noProof="0" dirty="0"/>
          </a:p>
        </p:txBody>
      </p:sp>
      <p:sp>
        <p:nvSpPr>
          <p:cNvPr id="21" name="Shape 19"/>
          <p:cNvSpPr/>
          <p:nvPr/>
        </p:nvSpPr>
        <p:spPr>
          <a:xfrm>
            <a:off x="4754880" y="1234440"/>
            <a:ext cx="822960" cy="1005840"/>
          </a:xfrm>
          <a:prstGeom prst="rect">
            <a:avLst/>
          </a:prstGeom>
          <a:solidFill>
            <a:srgbClr val="0D7A8A"/>
          </a:solidFill>
          <a:ln w="12700">
            <a:solidFill>
              <a:srgbClr val="0D7A8A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22" name="Text 20"/>
          <p:cNvSpPr/>
          <p:nvPr/>
        </p:nvSpPr>
        <p:spPr>
          <a:xfrm>
            <a:off x="4754880" y="1417320"/>
            <a:ext cx="822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600" b="1" noProof="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</a:t>
            </a:r>
            <a:endParaRPr lang="pt-BR" sz="1600" noProof="0" dirty="0"/>
          </a:p>
        </p:txBody>
      </p:sp>
      <p:sp>
        <p:nvSpPr>
          <p:cNvPr id="23" name="Text 21"/>
          <p:cNvSpPr/>
          <p:nvPr/>
        </p:nvSpPr>
        <p:spPr>
          <a:xfrm>
            <a:off x="5669280" y="1325880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5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Uniao</a:t>
            </a:r>
            <a:endParaRPr lang="pt-BR" sz="1500" noProof="0" dirty="0"/>
          </a:p>
        </p:txBody>
      </p:sp>
      <p:sp>
        <p:nvSpPr>
          <p:cNvPr id="24" name="Text 22"/>
          <p:cNvSpPr/>
          <p:nvPr/>
        </p:nvSpPr>
        <p:spPr>
          <a:xfrm>
            <a:off x="5669280" y="170992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noProof="0" dirty="0">
                <a:solidFill>
                  <a:srgbClr val="A8C5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Operador mais fraco — use parênteses para clareza</a:t>
            </a:r>
            <a:endParaRPr lang="pt-BR" sz="1200" noProof="0" dirty="0"/>
          </a:p>
        </p:txBody>
      </p:sp>
      <p:sp>
        <p:nvSpPr>
          <p:cNvPr id="25" name="Shape 23"/>
          <p:cNvSpPr/>
          <p:nvPr/>
        </p:nvSpPr>
        <p:spPr>
          <a:xfrm>
            <a:off x="4754880" y="2404872"/>
            <a:ext cx="4023360" cy="1005840"/>
          </a:xfrm>
          <a:prstGeom prst="rect">
            <a:avLst/>
          </a:prstGeom>
          <a:solidFill>
            <a:srgbClr val="122840"/>
          </a:solidFill>
          <a:ln w="12700">
            <a:solidFill>
              <a:srgbClr val="12284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t-BR" noProof="0" dirty="0"/>
          </a:p>
        </p:txBody>
      </p:sp>
      <p:sp>
        <p:nvSpPr>
          <p:cNvPr id="26" name="Shape 24"/>
          <p:cNvSpPr/>
          <p:nvPr/>
        </p:nvSpPr>
        <p:spPr>
          <a:xfrm>
            <a:off x="4754880" y="2404872"/>
            <a:ext cx="822960" cy="100584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27" name="Text 25"/>
          <p:cNvSpPr/>
          <p:nvPr/>
        </p:nvSpPr>
        <p:spPr>
          <a:xfrm>
            <a:off x="4754880" y="2587752"/>
            <a:ext cx="822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600" b="1" noProof="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abc</a:t>
            </a:r>
            <a:endParaRPr lang="pt-BR" sz="1600" noProof="0" dirty="0"/>
          </a:p>
        </p:txBody>
      </p:sp>
      <p:sp>
        <p:nvSpPr>
          <p:cNvPr id="28" name="Text 26"/>
          <p:cNvSpPr/>
          <p:nvPr/>
        </p:nvSpPr>
        <p:spPr>
          <a:xfrm>
            <a:off x="5669280" y="2496312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5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Concatenação</a:t>
            </a:r>
            <a:endParaRPr lang="pt-BR" sz="1500" noProof="0" dirty="0"/>
          </a:p>
        </p:txBody>
      </p:sp>
      <p:sp>
        <p:nvSpPr>
          <p:cNvPr id="29" name="Text 27"/>
          <p:cNvSpPr/>
          <p:nvPr/>
        </p:nvSpPr>
        <p:spPr>
          <a:xfrm>
            <a:off x="5669280" y="28803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noProof="0" dirty="0">
                <a:solidFill>
                  <a:srgbClr val="A8C5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Sequencia na ordem exata</a:t>
            </a:r>
            <a:endParaRPr lang="pt-BR" sz="1200" noProof="0" dirty="0"/>
          </a:p>
        </p:txBody>
      </p:sp>
      <p:sp>
        <p:nvSpPr>
          <p:cNvPr id="30" name="Shape 28"/>
          <p:cNvSpPr/>
          <p:nvPr/>
        </p:nvSpPr>
        <p:spPr>
          <a:xfrm>
            <a:off x="4754880" y="3575304"/>
            <a:ext cx="4023360" cy="1005840"/>
          </a:xfrm>
          <a:prstGeom prst="rect">
            <a:avLst/>
          </a:prstGeom>
          <a:solidFill>
            <a:srgbClr val="122840"/>
          </a:solidFill>
          <a:ln w="12700">
            <a:solidFill>
              <a:srgbClr val="12284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t-BR" noProof="0" dirty="0"/>
          </a:p>
        </p:txBody>
      </p:sp>
      <p:sp>
        <p:nvSpPr>
          <p:cNvPr id="31" name="Shape 29"/>
          <p:cNvSpPr/>
          <p:nvPr/>
        </p:nvSpPr>
        <p:spPr>
          <a:xfrm>
            <a:off x="4754880" y="3575304"/>
            <a:ext cx="822960" cy="1005840"/>
          </a:xfrm>
          <a:prstGeom prst="rect">
            <a:avLst/>
          </a:prstGeom>
          <a:solidFill>
            <a:srgbClr val="5C2D91"/>
          </a:solidFill>
          <a:ln w="12700">
            <a:solidFill>
              <a:srgbClr val="5C2D91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32" name="Text 30"/>
          <p:cNvSpPr/>
          <p:nvPr/>
        </p:nvSpPr>
        <p:spPr>
          <a:xfrm>
            <a:off x="4754880" y="3758184"/>
            <a:ext cx="822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600" b="1" noProof="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!</a:t>
            </a:r>
            <a:endParaRPr lang="pt-BR" sz="1600" noProof="0" dirty="0"/>
          </a:p>
        </p:txBody>
      </p:sp>
      <p:sp>
        <p:nvSpPr>
          <p:cNvPr id="33" name="Text 31"/>
          <p:cNvSpPr/>
          <p:nvPr/>
        </p:nvSpPr>
        <p:spPr>
          <a:xfrm>
            <a:off x="5669280" y="3666744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5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 das </a:t>
            </a:r>
            <a:r>
              <a:rPr lang="pt-BR" sz="1500" b="1" noProof="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ERs</a:t>
            </a:r>
            <a:endParaRPr lang="pt-BR" sz="1500" noProof="0" dirty="0"/>
          </a:p>
        </p:txBody>
      </p:sp>
      <p:sp>
        <p:nvSpPr>
          <p:cNvPr id="34" name="Text 32"/>
          <p:cNvSpPr/>
          <p:nvPr/>
        </p:nvSpPr>
        <p:spPr>
          <a:xfrm>
            <a:off x="5669280" y="4050792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noProof="0" dirty="0">
                <a:solidFill>
                  <a:srgbClr val="A8C5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 não reconhece linguagens com contagem igual (</a:t>
            </a:r>
            <a:r>
              <a:rPr lang="pt-BR" sz="1200" noProof="0" dirty="0" err="1">
                <a:solidFill>
                  <a:srgbClr val="A8C5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a^n</a:t>
            </a:r>
            <a:r>
              <a:rPr lang="pt-BR" sz="1200" noProof="0" dirty="0">
                <a:solidFill>
                  <a:srgbClr val="A8C5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pt-BR" sz="1200" noProof="0" dirty="0" err="1">
                <a:solidFill>
                  <a:srgbClr val="A8C5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b^n</a:t>
            </a:r>
            <a:r>
              <a:rPr lang="pt-BR" sz="1200" noProof="0" dirty="0">
                <a:solidFill>
                  <a:srgbClr val="A8C5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pt-BR" sz="1200" noProof="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786</Words>
  <Application>Microsoft Office PowerPoint</Application>
  <PresentationFormat>Apresentação na tela (16:9)</PresentationFormat>
  <Paragraphs>158</Paragraphs>
  <Slides>9</Slides>
  <Notes>9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9</vt:i4>
      </vt:variant>
    </vt:vector>
  </HeadingPairs>
  <TitlesOfParts>
    <vt:vector size="13" baseType="lpstr">
      <vt:lpstr>Arial</vt:lpstr>
      <vt:lpstr>Calibri</vt:lpstr>
      <vt:lpstr>Consolas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Expressoes Regulares - Aula 2</dc:title>
  <dc:subject>PptxGenJS Presentation</dc:subject>
  <dc:creator>PptxGenJS</dc:creator>
  <cp:lastModifiedBy>Office</cp:lastModifiedBy>
  <cp:revision>15</cp:revision>
  <dcterms:created xsi:type="dcterms:W3CDTF">2026-02-23T19:19:44Z</dcterms:created>
  <dcterms:modified xsi:type="dcterms:W3CDTF">2026-02-23T21:32:41Z</dcterms:modified>
</cp:coreProperties>
</file>